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C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293D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DEVELOPMENT PACKAGE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Padang Besar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Cross-Border Logistics Platform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Perlis, Malaysia  ·  Malaysia–Thailand Border Corridor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discussions with: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agencies · Investors · Shandong Hi-Speed Group · EPC contractors · Technology partners · Banks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5166360"/>
            <a:ext cx="10424160" cy="0"/>
          </a:xfrm>
          <a:prstGeom prst="line">
            <a:avLst/>
          </a:prstGeom>
          <a:noFill/>
          <a:ln w="12700">
            <a:solidFill>
              <a:srgbClr val="335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349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for discussion  ·  July 2026  ·  Prepared by the Prospek Cerah project development team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document asserts no ownership, concession, operating rights or licences. Items not publicly verified are marked “Pending confirmation from project owner.”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 OF PREPARATION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document was built — and what it does not claim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113264" y="274320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33566E"/>
          </a:solidFill>
          <a:ln/>
        </p:spPr>
      </p:sp>
      <p:sp>
        <p:nvSpPr>
          <p:cNvPr id="7" name="Text 5"/>
          <p:cNvSpPr/>
          <p:nvPr/>
        </p:nvSpPr>
        <p:spPr>
          <a:xfrm>
            <a:off x="10113264" y="2743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7406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a multi-disciplinary development team covering project development, PPP/infrastructure, inland-port logistics, EPC, digitalisation, financial modelling, investment banking, risk, government relations and presentation design. Each specialist's output was cross-reviewed by the others before inclusion.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base: publicly available sources only, verified as of 26 July 2026. Every factual statement in Section 2 carries a reference [R#], consolidated in the References appendix.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public sources conflict (e.g., Perlis Inland Port capacity and cost figures), the conflict is disclosed rather than resolved by assumption.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site visits, data-room access or owner interviews have occurred. Nothing here should be read as confirmation of land, rights, mandates or approvals.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business models, work packages, structures and financial frameworks are proposals for negotiation — deliberately built so they can be validated or discarded item-by-item in due diligence.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0" y="1554480"/>
            <a:ext cx="3456432" cy="4206240"/>
          </a:xfrm>
          <a:prstGeom prst="roundRect">
            <a:avLst>
              <a:gd name="adj" fmla="val 1455"/>
            </a:avLst>
          </a:prstGeom>
          <a:solidFill>
            <a:srgbClr val="13293D"/>
          </a:solidFill>
          <a:ln/>
        </p:spPr>
      </p:sp>
      <p:sp>
        <p:nvSpPr>
          <p:cNvPr id="10" name="Text 8"/>
          <p:cNvSpPr/>
          <p:nvPr/>
        </p:nvSpPr>
        <p:spPr>
          <a:xfrm>
            <a:off x="845820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DISCIPLINE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58200" y="214884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fabricate facts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fact tiers on every page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Disclose source conflicts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what is unverified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numbers without evidence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GUIDE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information tiers — kept separate throughout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11183112" cy="1005840"/>
          </a:xfrm>
          <a:prstGeom prst="roundRect">
            <a:avLst>
              <a:gd name="adj" fmla="val 5000"/>
            </a:avLst>
          </a:prstGeom>
          <a:solidFill>
            <a:srgbClr val="EDF1F4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947672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2F7D5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476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PUBLICLY VERIFIED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86200" y="1709928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 supported by cited public sources (media, government, corporate disclosures). Each carries a reference [R#].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770632"/>
            <a:ext cx="11183112" cy="100584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118104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11810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OWNER CONFIRMATION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86200" y="2880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about this project's land, rights, mandates, agreements or status. Not asserted anywhere in this package.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941064"/>
            <a:ext cx="11183112" cy="1005840"/>
          </a:xfrm>
          <a:prstGeom prst="roundRect">
            <a:avLst>
              <a:gd name="adj" fmla="val 5000"/>
            </a:avLst>
          </a:prstGeom>
          <a:solidFill>
            <a:srgbClr val="EDF1F4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288536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8853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86200" y="4050792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model, work packages, structures and strategies designed by the team — for negotiation, not statements of fact.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5111496"/>
            <a:ext cx="11183112" cy="100584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5458968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33566E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4589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86200" y="5221224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team's professional judgment on sequencing, positioning and process — clearly separated from facts.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Fifteen sections, one investment-grade narrative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611880" cy="749808"/>
          </a:xfrm>
          <a:prstGeom prst="roundRect">
            <a:avLst>
              <a:gd name="adj" fmla="val 6707"/>
            </a:avLst>
          </a:prstGeom>
          <a:solidFill>
            <a:srgbClr val="F2F5F7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" y="1810512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691640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587752"/>
            <a:ext cx="3611880" cy="749808"/>
          </a:xfrm>
          <a:prstGeom prst="roundRect">
            <a:avLst>
              <a:gd name="adj" fmla="val 6707"/>
            </a:avLst>
          </a:prstGeom>
          <a:solidFill>
            <a:srgbClr val="F2F5F7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" y="2706624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2587752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Research (referenced)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483864"/>
            <a:ext cx="3611880" cy="749808"/>
          </a:xfrm>
          <a:prstGeom prst="roundRect">
            <a:avLst>
              <a:gd name="adj" fmla="val 6707"/>
            </a:avLst>
          </a:prstGeom>
          <a:solidFill>
            <a:srgbClr val="F2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" y="3602736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483864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Ecosystem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379976"/>
            <a:ext cx="3611880" cy="749808"/>
          </a:xfrm>
          <a:prstGeom prst="roundRect">
            <a:avLst>
              <a:gd name="adj" fmla="val 6707"/>
            </a:avLst>
          </a:prstGeom>
          <a:solidFill>
            <a:srgbClr val="F2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" y="449884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4379976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Opportunities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5276088"/>
            <a:ext cx="3611880" cy="749808"/>
          </a:xfrm>
          <a:prstGeom prst="roundRect">
            <a:avLst>
              <a:gd name="adj" fmla="val 6707"/>
            </a:avLst>
          </a:prstGeom>
          <a:solidFill>
            <a:srgbClr val="F2F5F7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" y="53949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71600" y="5276088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 Work Packages WP01–WP20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25112" y="1691640"/>
            <a:ext cx="3611880" cy="749808"/>
          </a:xfrm>
          <a:prstGeom prst="roundRect">
            <a:avLst>
              <a:gd name="adj" fmla="val 6707"/>
            </a:avLst>
          </a:prstGeom>
          <a:solidFill>
            <a:srgbClr val="F2F5F7"/>
          </a:solidFill>
          <a:ln/>
        </p:spPr>
      </p:sp>
      <p:sp>
        <p:nvSpPr>
          <p:cNvPr id="22" name="Text 20"/>
          <p:cNvSpPr/>
          <p:nvPr/>
        </p:nvSpPr>
        <p:spPr>
          <a:xfrm>
            <a:off x="4471416" y="1810512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193792" y="1691640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Digitalisation Strategy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25112" y="2587752"/>
            <a:ext cx="3611880" cy="749808"/>
          </a:xfrm>
          <a:prstGeom prst="roundRect">
            <a:avLst>
              <a:gd name="adj" fmla="val 6707"/>
            </a:avLst>
          </a:prstGeom>
          <a:solidFill>
            <a:srgbClr val="F2F5F7"/>
          </a:solidFill>
          <a:ln/>
        </p:spPr>
      </p:sp>
      <p:sp>
        <p:nvSpPr>
          <p:cNvPr id="25" name="Text 23"/>
          <p:cNvSpPr/>
          <p:nvPr/>
        </p:nvSpPr>
        <p:spPr>
          <a:xfrm>
            <a:off x="4471416" y="2706624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193792" y="2587752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Prospek Cerah Business Model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25112" y="3483864"/>
            <a:ext cx="3611880" cy="749808"/>
          </a:xfrm>
          <a:prstGeom prst="roundRect">
            <a:avLst>
              <a:gd name="adj" fmla="val 6707"/>
            </a:avLst>
          </a:prstGeom>
          <a:solidFill>
            <a:srgbClr val="F2F5F7"/>
          </a:solidFill>
          <a:ln/>
        </p:spPr>
      </p:sp>
      <p:sp>
        <p:nvSpPr>
          <p:cNvPr id="28" name="Text 26"/>
          <p:cNvSpPr/>
          <p:nvPr/>
        </p:nvSpPr>
        <p:spPr>
          <a:xfrm>
            <a:off x="4471416" y="3602736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193792" y="3483864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Shandong Hi-Speed Role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25112" y="4379976"/>
            <a:ext cx="3611880" cy="749808"/>
          </a:xfrm>
          <a:prstGeom prst="roundRect">
            <a:avLst>
              <a:gd name="adj" fmla="val 6707"/>
            </a:avLst>
          </a:prstGeom>
          <a:solidFill>
            <a:srgbClr val="F2F5F7"/>
          </a:solidFill>
          <a:ln/>
        </p:spPr>
      </p:sp>
      <p:sp>
        <p:nvSpPr>
          <p:cNvPr id="31" name="Text 29"/>
          <p:cNvSpPr/>
          <p:nvPr/>
        </p:nvSpPr>
        <p:spPr>
          <a:xfrm>
            <a:off x="4471416" y="449884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193792" y="4379976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Model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25112" y="5276088"/>
            <a:ext cx="3611880" cy="749808"/>
          </a:xfrm>
          <a:prstGeom prst="roundRect">
            <a:avLst>
              <a:gd name="adj" fmla="val 6707"/>
            </a:avLst>
          </a:prstGeom>
          <a:solidFill>
            <a:srgbClr val="F2F5F7"/>
          </a:solidFill>
          <a:ln/>
        </p:spPr>
      </p:sp>
      <p:sp>
        <p:nvSpPr>
          <p:cNvPr id="34" name="Text 32"/>
          <p:cNvSpPr/>
          <p:nvPr/>
        </p:nvSpPr>
        <p:spPr>
          <a:xfrm>
            <a:off x="4471416" y="53949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193792" y="5276088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Model Framework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47304" y="1691640"/>
            <a:ext cx="3611880" cy="749808"/>
          </a:xfrm>
          <a:prstGeom prst="roundRect">
            <a:avLst>
              <a:gd name="adj" fmla="val 6707"/>
            </a:avLst>
          </a:prstGeom>
          <a:solidFill>
            <a:srgbClr val="F2F5F7"/>
          </a:solidFill>
          <a:ln/>
        </p:spPr>
      </p:sp>
      <p:sp>
        <p:nvSpPr>
          <p:cNvPr id="37" name="Text 35"/>
          <p:cNvSpPr/>
          <p:nvPr/>
        </p:nvSpPr>
        <p:spPr>
          <a:xfrm>
            <a:off x="8293608" y="1810512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015984" y="1691640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Diligence Checklist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147304" y="2587752"/>
            <a:ext cx="3611880" cy="749808"/>
          </a:xfrm>
          <a:prstGeom prst="roundRect">
            <a:avLst>
              <a:gd name="adj" fmla="val 6707"/>
            </a:avLst>
          </a:prstGeom>
          <a:solidFill>
            <a:srgbClr val="F2F5F7"/>
          </a:solidFill>
          <a:ln/>
        </p:spPr>
      </p:sp>
      <p:sp>
        <p:nvSpPr>
          <p:cNvPr id="40" name="Text 38"/>
          <p:cNvSpPr/>
          <p:nvPr/>
        </p:nvSpPr>
        <p:spPr>
          <a:xfrm>
            <a:off x="8293608" y="2706624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015984" y="2587752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for Project Owner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147304" y="3483864"/>
            <a:ext cx="3611880" cy="749808"/>
          </a:xfrm>
          <a:prstGeom prst="roundRect">
            <a:avLst>
              <a:gd name="adj" fmla="val 6707"/>
            </a:avLst>
          </a:prstGeom>
          <a:solidFill>
            <a:srgbClr val="F2F5F7"/>
          </a:solidFill>
          <a:ln/>
        </p:spPr>
      </p:sp>
      <p:sp>
        <p:nvSpPr>
          <p:cNvPr id="43" name="Text 41"/>
          <p:cNvSpPr/>
          <p:nvPr/>
        </p:nvSpPr>
        <p:spPr>
          <a:xfrm>
            <a:off x="8293608" y="3602736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9015984" y="3483864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Consortium Structure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147304" y="4379976"/>
            <a:ext cx="3611880" cy="749808"/>
          </a:xfrm>
          <a:prstGeom prst="roundRect">
            <a:avLst>
              <a:gd name="adj" fmla="val 6707"/>
            </a:avLst>
          </a:prstGeom>
          <a:solidFill>
            <a:srgbClr val="F2F5F7"/>
          </a:solidFill>
          <a:ln/>
        </p:spPr>
      </p:sp>
      <p:sp>
        <p:nvSpPr>
          <p:cNvPr id="46" name="Text 44"/>
          <p:cNvSpPr/>
          <p:nvPr/>
        </p:nvSpPr>
        <p:spPr>
          <a:xfrm>
            <a:off x="8293608" y="449884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9015984" y="4379976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147304" y="5276088"/>
            <a:ext cx="3611880" cy="749808"/>
          </a:xfrm>
          <a:prstGeom prst="roundRect">
            <a:avLst>
              <a:gd name="adj" fmla="val 6707"/>
            </a:avLst>
          </a:prstGeom>
          <a:solidFill>
            <a:srgbClr val="F2F5F7"/>
          </a:solidFill>
          <a:ln/>
        </p:spPr>
      </p:sp>
      <p:sp>
        <p:nvSpPr>
          <p:cNvPr id="49" name="Text 47"/>
          <p:cNvSpPr/>
          <p:nvPr/>
        </p:nvSpPr>
        <p:spPr>
          <a:xfrm>
            <a:off x="8293608" y="53949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9015984" y="5276088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Next Steps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02920" y="61996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Appendix: visual asset recommendations · assumptions register · consolidated references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85800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40690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Padang Besar, why Malaysia, why border logistics — and the one strategic question that must be answered before any capital moves.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Padang Besar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Malaysia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border logistics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 &amp; challenges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bottom line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· EXECUTIVE SUMMARY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Padang Besar: the corridor is real, growing and under-built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838944" y="274320"/>
            <a:ext cx="1847088" cy="274320"/>
          </a:xfrm>
          <a:prstGeom prst="roundRect">
            <a:avLst>
              <a:gd name="adj" fmla="val 50000"/>
            </a:avLst>
          </a:prstGeom>
          <a:solidFill>
            <a:srgbClr val="2F7D5B"/>
          </a:solidFill>
          <a:ln/>
        </p:spPr>
      </p:sp>
      <p:sp>
        <p:nvSpPr>
          <p:cNvPr id="7" name="Text 5"/>
          <p:cNvSpPr/>
          <p:nvPr/>
        </p:nvSpPr>
        <p:spPr>
          <a:xfrm>
            <a:off x="9838944" y="27432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PUBLICLY VERIFIED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5486400" cy="1298448"/>
          </a:xfrm>
          <a:prstGeom prst="roundRect">
            <a:avLst>
              <a:gd name="adj" fmla="val 3873"/>
            </a:avLst>
          </a:prstGeom>
          <a:solidFill>
            <a:srgbClr val="F2F5F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70992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+25.9%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2514600" y="1709928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(Thai) checkpoint trade growth 2024 — 102.3bn baht, 3rd in Thailand for transshipment value [R48]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486400" cy="1298448"/>
          </a:xfrm>
          <a:prstGeom prst="roundRect">
            <a:avLst>
              <a:gd name="adj" fmla="val 3873"/>
            </a:avLst>
          </a:prstGeom>
          <a:solidFill>
            <a:srgbClr val="F2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70992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183880" y="1709928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Malaysia–Thailand rail link — juxtaposed customs inside the station [R2, R3]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081528"/>
            <a:ext cx="5486400" cy="1298448"/>
          </a:xfrm>
          <a:prstGeom prst="roundRect">
            <a:avLst>
              <a:gd name="adj" fmla="val 3873"/>
            </a:avLst>
          </a:prstGeom>
          <a:solidFill>
            <a:srgbClr val="F2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191256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~80%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2514600" y="3191256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utilisation of the 150,000 TEU legacy terminal before operations migrated [R15]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3081528"/>
            <a:ext cx="5486400" cy="1298448"/>
          </a:xfrm>
          <a:prstGeom prst="roundRect">
            <a:avLst>
              <a:gd name="adj" fmla="val 3873"/>
            </a:avLst>
          </a:prstGeom>
          <a:solidFill>
            <a:srgbClr val="F2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3191256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hrs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8183880" y="3191256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border window (06:00–22:00) — a solvable structural constraint [R4]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754880"/>
            <a:ext cx="11183112" cy="1417320"/>
          </a:xfrm>
          <a:prstGeom prst="roundRect">
            <a:avLst>
              <a:gd name="adj" fmla="val 3548"/>
            </a:avLst>
          </a:prstGeom>
          <a:solidFill>
            <a:srgbClr val="13293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89204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this single crossing already run: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electrified KTMB double-track corridor, the CMA CGM/Infinity Penang landbridge block trains, the ASEAN Express to Chongqing, and daily freight into the new Perlis Inland Port.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infrastructure conversation at this border has already started — the question is who builds its next layer. [R10–R13]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· EXECUTIVE SUMMARY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Malaysia: a policy machine is already funding this corridor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838944" y="274320"/>
            <a:ext cx="1847088" cy="274320"/>
          </a:xfrm>
          <a:prstGeom prst="roundRect">
            <a:avLst>
              <a:gd name="adj" fmla="val 50000"/>
            </a:avLst>
          </a:prstGeom>
          <a:solidFill>
            <a:srgbClr val="2F7D5B"/>
          </a:solidFill>
          <a:ln/>
        </p:spPr>
      </p:sp>
      <p:sp>
        <p:nvSpPr>
          <p:cNvPr id="7" name="Text 5"/>
          <p:cNvSpPr/>
          <p:nvPr/>
        </p:nvSpPr>
        <p:spPr>
          <a:xfrm>
            <a:off x="9838944" y="27432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PUBLICLY VERIFIED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45920"/>
            <a:ext cx="3611880" cy="1783080"/>
          </a:xfrm>
          <a:prstGeom prst="roundRect">
            <a:avLst>
              <a:gd name="adj" fmla="val 2821"/>
            </a:avLst>
          </a:prstGeom>
          <a:solidFill>
            <a:srgbClr val="F2F5F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79222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US$30bn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2304288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Malaysia–Thailand trade target for 2027, with a joint trade-facilitation task force [R46]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25112" y="1645920"/>
            <a:ext cx="3611880" cy="1783080"/>
          </a:xfrm>
          <a:prstGeom prst="roundRect">
            <a:avLst>
              <a:gd name="adj" fmla="val 2821"/>
            </a:avLst>
          </a:prstGeom>
          <a:solidFill>
            <a:srgbClr val="F2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4507992" y="179222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PIKAS 2030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07992" y="2304288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PPP master plan: RM78bn private investment target, competitive RFP model [R61]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47304" y="1645920"/>
            <a:ext cx="3611880" cy="1783080"/>
          </a:xfrm>
          <a:prstGeom prst="roundRect">
            <a:avLst>
              <a:gd name="adj" fmla="val 2821"/>
            </a:avLst>
          </a:prstGeom>
          <a:solidFill>
            <a:srgbClr val="F2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8330184" y="179222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NCIA / NCER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30184" y="2304288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statutory development authority for Perlis with logistics as a mandated sector [R56]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611880"/>
            <a:ext cx="3611880" cy="1783080"/>
          </a:xfrm>
          <a:prstGeom prst="roundRect">
            <a:avLst>
              <a:gd name="adj" fmla="val 2821"/>
            </a:avLst>
          </a:prstGeom>
          <a:solidFill>
            <a:srgbClr val="F2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75818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~RM400m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5800" y="4270248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external works already delivered at this border (bonded road, rail spur, flyover) [R23, R36]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25112" y="3611880"/>
            <a:ext cx="3611880" cy="1783080"/>
          </a:xfrm>
          <a:prstGeom prst="roundRect">
            <a:avLst>
              <a:gd name="adj" fmla="val 2821"/>
            </a:avLst>
          </a:prstGeom>
          <a:solidFill>
            <a:srgbClr val="F2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4507992" y="375818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RM374m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07992" y="4270248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Pembangunan financing approved for Perlis Inland Port — lender precedent at this exact location [R25]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3611880"/>
            <a:ext cx="3611880" cy="1783080"/>
          </a:xfrm>
          <a:prstGeom prst="roundRect">
            <a:avLst>
              <a:gd name="adj" fmla="val 2821"/>
            </a:avLst>
          </a:prstGeom>
          <a:solidFill>
            <a:srgbClr val="F2F5F7"/>
          </a:solidFill>
          <a:ln/>
        </p:spPr>
      </p:sp>
      <p:sp>
        <p:nvSpPr>
          <p:cNvPr id="24" name="Text 22"/>
          <p:cNvSpPr/>
          <p:nvPr/>
        </p:nvSpPr>
        <p:spPr>
          <a:xfrm>
            <a:off x="8330184" y="375818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 Economic Zone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330184" y="4270248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announced by both Prime Ministers, July 2026 — spanning the northern border states [R60]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Malaysia pairs this policy stack with a common-law system, deep sukuk/project-finance markets, and institutional lenders (BPMB, AIIB partnerships with Maybank/CIMB/AmBank) active in exactly this asset class. [R80]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· EXECUTIVE SUMMARY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border logistics: chokepoint economics with a rail growth option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07424" y="274320"/>
            <a:ext cx="2578608" cy="274320"/>
          </a:xfrm>
          <a:prstGeom prst="roundRect">
            <a:avLst>
              <a:gd name="adj" fmla="val 50000"/>
            </a:avLst>
          </a:prstGeom>
          <a:solidFill>
            <a:srgbClr val="C9962E"/>
          </a:solidFill>
          <a:ln/>
        </p:spPr>
      </p:sp>
      <p:sp>
        <p:nvSpPr>
          <p:cNvPr id="7" name="Text 5"/>
          <p:cNvSpPr/>
          <p:nvPr/>
        </p:nvSpPr>
        <p:spPr>
          <a:xfrm>
            <a:off x="9107424" y="27432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FACTS + PROPOSAL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69494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250" b="1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Land-border trade is ~40% of US$25bn bilateral trade (2024) — and this checkpoint grew +25.9% while the total grew single digits. [R47, R48]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 logistics is a chokepoint business: where two customs regimes, two rail operators and two road networks meet, every improvement in flow is monetisable — handling, storage, marshalling, data.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 flows are the least commoditised, highest-friction segment of ASEAN logistics — friction is the revenue pool.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China–ASEAN rail narrative (ASEAN Express since 2024; Kunming–Singapore corridor phases to 2031) adds a structural growth option on top of the bilateral base. [R12, R54]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~70% of southern Thailand's export cargo already transships through Penang — the landbridge through Padang Besar is its land leg. [R51]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0" y="1600200"/>
            <a:ext cx="3913632" cy="4206240"/>
          </a:xfrm>
          <a:prstGeom prst="roundRect">
            <a:avLst>
              <a:gd name="adj" fmla="val 1285"/>
            </a:avLst>
          </a:prstGeom>
          <a:solidFill>
            <a:srgbClr val="F2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00100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01000" y="2148840"/>
            <a:ext cx="3474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operating + FCZ live (May 2026): ecosystem momentum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SRT Hat Yai–Padang Besar double-tracking at bid stage [R35]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 Economic Zone incentives being defined now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13MP road-to-rail push; KTMB volumes +23.5% YoY [R33, R34]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windows close once corridors consolidate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· EXECUTIVE SUMMARY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bottom line — and the strategic question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113264" y="274320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33566E"/>
          </a:solidFill>
          <a:ln/>
        </p:spPr>
      </p:sp>
      <p:sp>
        <p:nvSpPr>
          <p:cNvPr id="7" name="Text 5"/>
          <p:cNvSpPr/>
          <p:nvPr/>
        </p:nvSpPr>
        <p:spPr>
          <a:xfrm>
            <a:off x="10113264" y="2743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5486400" cy="2194560"/>
          </a:xfrm>
          <a:prstGeom prst="roundRect">
            <a:avLst>
              <a:gd name="adj" fmla="val 2292"/>
            </a:avLst>
          </a:prstGeom>
          <a:solidFill>
            <a:srgbClr val="EAF3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VERIFIED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5074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corridor: trade volumes, growth, rail services, policy support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precedents: PIP financing, Thanaleng model, Shandong Hi-Speed active in Malaysia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constraints: border hours, Thai single-track, competition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486400" cy="2194560"/>
          </a:xfrm>
          <a:prstGeom prst="roundRect">
            <a:avLst>
              <a:gd name="adj" fmla="val 2292"/>
            </a:avLst>
          </a:prstGeom>
          <a:solidFill>
            <a:srgbClr val="F7EFE2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NOT VERIFIED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46520" y="2011680"/>
            <a:ext cx="5074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project's land, rights, mandate and approvals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relationship to the operating Perlis Inland Port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commitment by Shandong Hi-Speed, government or investors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023360"/>
            <a:ext cx="11183112" cy="2057400"/>
          </a:xfrm>
          <a:prstGeom prst="roundRect">
            <a:avLst>
              <a:gd name="adj" fmla="val 2444"/>
            </a:avLst>
          </a:prstGeom>
          <a:solidFill>
            <a:srgbClr val="13293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206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STRATEGIC QUESTION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4526280"/>
            <a:ext cx="10607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Perlis Inland Port is operating in the same town — state-backed, KTMB-run, royally launched. This project must define itself as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integration, complement, or competitor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PIP before approaching any investor. This package is built to force that answer early (Sections 11–12), then convert the verified corridor thesis into an investable transaction (Sections 13–15).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85800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Research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40690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publicly verifiable information, every statement referenced. Conflicting sources are disclosed; unverifiable items are quarantined.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 &amp; rail anatomy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Perlis Inland Port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statistics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&amp; stakeholders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could not verify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· PUBLIC RESEARCH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border system: one town, two regimes, three channels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838944" y="274320"/>
            <a:ext cx="1847088" cy="274320"/>
          </a:xfrm>
          <a:prstGeom prst="roundRect">
            <a:avLst>
              <a:gd name="adj" fmla="val 50000"/>
            </a:avLst>
          </a:prstGeom>
          <a:solidFill>
            <a:srgbClr val="2F7D5B"/>
          </a:solidFill>
          <a:ln/>
        </p:spPr>
      </p:sp>
      <p:sp>
        <p:nvSpPr>
          <p:cNvPr id="7" name="Text 5"/>
          <p:cNvSpPr/>
          <p:nvPr/>
        </p:nvSpPr>
        <p:spPr>
          <a:xfrm>
            <a:off x="9838944" y="27432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PUBLICLY VERIFIED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31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138160"/>
                <a:gridCol w="16733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Verified facts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Malaysia's only direct rail link with Thailand. Station (1918) hosts juxtaposed MY+TH border controls. KTMB electrified double-track metre-gauge line meets SRT Southern Line. No gauge break — both networks are metre gauge; the standard-gauge break for China traffic is at Thanaleng, Laos.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R2, R3, R9, R30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ICQS complex handles passenger + cargo vehicles; hours ~06:00–22:00 (not 24h). Federal Route 7 starts at the border; FT79 links south; expressway via Changlun. The busier road crossing is Bukit Kayu Hitam–Sadao, 45 km east — new link road opened July 2026.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R4, R6–R8, R42, R43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JKDM/RMCD administers the land entry point. National digital rails: uCustoms/SMK; ASEAN Single Window live for e-Form D across all 10 member states. ACTS transit system piloted by MY–SG–TH. Single-stop inspection studied (CAREC), implementation unverified.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R18, R21, R44, R45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slide 3.2 maps these channels as a flow diagram.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· PUBLIC RESEARCH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 cargo: four services already run through this crossing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838944" y="274320"/>
            <a:ext cx="1847088" cy="274320"/>
          </a:xfrm>
          <a:prstGeom prst="roundRect">
            <a:avLst>
              <a:gd name="adj" fmla="val 50000"/>
            </a:avLst>
          </a:prstGeom>
          <a:solidFill>
            <a:srgbClr val="2F7D5B"/>
          </a:solidFill>
          <a:ln/>
        </p:spPr>
      </p:sp>
      <p:sp>
        <p:nvSpPr>
          <p:cNvPr id="7" name="Text 5"/>
          <p:cNvSpPr/>
          <p:nvPr/>
        </p:nvSpPr>
        <p:spPr>
          <a:xfrm>
            <a:off x="9838944" y="27432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PUBLICLY VERIFIED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5486400" cy="1325880"/>
          </a:xfrm>
          <a:prstGeom prst="roundRect">
            <a:avLst>
              <a:gd name="adj" fmla="val 3793"/>
            </a:avLst>
          </a:prstGeom>
          <a:solidFill>
            <a:srgbClr val="F2F5F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642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KTMB Kargo landbridge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services linking Penang Port, Port Klang and Padang Besar; ~4-day transit concept. [R10]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90488" y="1554480"/>
            <a:ext cx="5486400" cy="1325880"/>
          </a:xfrm>
          <a:prstGeom prst="roundRect">
            <a:avLst>
              <a:gd name="adj" fmla="val 3793"/>
            </a:avLst>
          </a:prstGeom>
          <a:solidFill>
            <a:srgbClr val="F2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6642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Penang block train (2022)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73368" y="20116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CMA CGM / Infinity Penang–Padang Besar service; corridor reported up to 7,500 TEU/month. [R11]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035808"/>
            <a:ext cx="5486400" cy="1325880"/>
          </a:xfrm>
          <a:prstGeom prst="roundRect">
            <a:avLst>
              <a:gd name="adj" fmla="val 3793"/>
            </a:avLst>
          </a:prstGeom>
          <a:solidFill>
            <a:srgbClr val="F2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14553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ASEAN Express (2024)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349300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(Kontena Nasional ICD) → Padang Besar → Lat Krabang → Thanaleng → Chongqing. ~9–14 days vs 14–21 by sea. [R12, R31]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90488" y="3035808"/>
            <a:ext cx="5486400" cy="1325880"/>
          </a:xfrm>
          <a:prstGeom prst="roundRect">
            <a:avLst>
              <a:gd name="adj" fmla="val 3793"/>
            </a:avLst>
          </a:prstGeom>
          <a:solidFill>
            <a:srgbClr val="F2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314553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STC Perai–PIP (2025)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73368" y="349300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freight into Perlis Inland Port; first train 80 TEU on 1 Dec 2025. [R13]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663440"/>
            <a:ext cx="11183112" cy="1463040"/>
          </a:xfrm>
          <a:prstGeom prst="roundRect">
            <a:avLst>
              <a:gd name="adj" fmla="val 3438"/>
            </a:avLst>
          </a:prstGeom>
          <a:solidFill>
            <a:srgbClr val="F2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outlook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1206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13MP-era plans: Padang Besar Depot upgrade, road-to-rail shift, North Butterworth terminal upgrade [R33]; KTMB rail volumes +23.5% YoY Jan 2026 [R34]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Thai side: SRT double-tracking Hat Yai–Padang Besar (45 km, ~7.77bn baht) slated for bidding within 2026 [R35]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· PUBLIC RESEARCH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Perlis Inland Port: the operating incumbent next door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838944" y="274320"/>
            <a:ext cx="1847088" cy="274320"/>
          </a:xfrm>
          <a:prstGeom prst="roundRect">
            <a:avLst>
              <a:gd name="adj" fmla="val 50000"/>
            </a:avLst>
          </a:prstGeom>
          <a:solidFill>
            <a:srgbClr val="2F7D5B"/>
          </a:solidFill>
          <a:ln/>
        </p:spPr>
      </p:sp>
      <p:sp>
        <p:nvSpPr>
          <p:cNvPr id="7" name="Text 5"/>
          <p:cNvSpPr/>
          <p:nvPr/>
        </p:nvSpPr>
        <p:spPr>
          <a:xfrm>
            <a:off x="9838944" y="27432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PUBLICLY VERIFIED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45920"/>
            <a:ext cx="2002536" cy="1371600"/>
          </a:xfrm>
          <a:prstGeom prst="roundRect">
            <a:avLst>
              <a:gd name="adj" fmla="val 3667"/>
            </a:avLst>
          </a:prstGeom>
          <a:solidFill>
            <a:srgbClr val="F2F5F7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645920"/>
            <a:ext cx="18562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launch; NCIA external works (bonded road, rail spur, flyover)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37460" y="224942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11" name="Shape 9"/>
          <p:cNvSpPr/>
          <p:nvPr/>
        </p:nvSpPr>
        <p:spPr>
          <a:xfrm>
            <a:off x="2798064" y="1645920"/>
            <a:ext cx="2002536" cy="1371600"/>
          </a:xfrm>
          <a:prstGeom prst="roundRect">
            <a:avLst>
              <a:gd name="adj" fmla="val 3667"/>
            </a:avLst>
          </a:prstGeom>
          <a:solidFill>
            <a:srgbClr val="F2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2871216" y="1645920"/>
            <a:ext cx="18562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Mar–Apr 2025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KTMB O&amp;M agreement; Maersk MOC; Kalmar equipment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32604" y="224942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093208" y="1645920"/>
            <a:ext cx="2002536" cy="1371600"/>
          </a:xfrm>
          <a:prstGeom prst="roundRect">
            <a:avLst>
              <a:gd name="adj" fmla="val 3667"/>
            </a:avLst>
          </a:prstGeom>
          <a:solidFill>
            <a:srgbClr val="F2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1645920"/>
            <a:ext cx="18562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Dec 2025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commercial freight train (80 TEU, Perai–PIP)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27748" y="224942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17" name="Shape 15"/>
          <p:cNvSpPr/>
          <p:nvPr/>
        </p:nvSpPr>
        <p:spPr>
          <a:xfrm>
            <a:off x="7388352" y="1645920"/>
            <a:ext cx="2002536" cy="1371600"/>
          </a:xfrm>
          <a:prstGeom prst="roundRect">
            <a:avLst>
              <a:gd name="adj" fmla="val 3667"/>
            </a:avLst>
          </a:prstGeom>
          <a:solidFill>
            <a:srgbClr val="F2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7461504" y="1645920"/>
            <a:ext cx="18562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Apr 2026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migrate from legacy TKPB terminal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422892" y="224942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20" name="Shape 18"/>
          <p:cNvSpPr/>
          <p:nvPr/>
        </p:nvSpPr>
        <p:spPr>
          <a:xfrm>
            <a:off x="9683496" y="1645920"/>
            <a:ext cx="2002536" cy="1371600"/>
          </a:xfrm>
          <a:prstGeom prst="roundRect">
            <a:avLst>
              <a:gd name="adj" fmla="val 3667"/>
            </a:avLst>
          </a:prstGeom>
          <a:solidFill>
            <a:srgbClr val="F2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9756648" y="1645920"/>
            <a:ext cx="18562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May 2026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Raja of Perlis launches Free Commercial Zone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3429000"/>
            <a:ext cx="2697480" cy="1371600"/>
          </a:xfrm>
          <a:prstGeom prst="roundRect">
            <a:avLst>
              <a:gd name="adj" fmla="val 3667"/>
            </a:avLst>
          </a:prstGeom>
          <a:solidFill>
            <a:srgbClr val="F2F5F7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58444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acres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02920" y="4242816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with bonded road + rail siding [R17]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55848" y="3429000"/>
            <a:ext cx="2697480" cy="1371600"/>
          </a:xfrm>
          <a:prstGeom prst="roundRect">
            <a:avLst>
              <a:gd name="adj" fmla="val 3667"/>
            </a:avLst>
          </a:prstGeom>
          <a:solidFill>
            <a:srgbClr val="F2F5F7"/>
          </a:solidFill>
          <a:ln/>
        </p:spPr>
      </p:sp>
      <p:sp>
        <p:nvSpPr>
          <p:cNvPr id="26" name="Text 24"/>
          <p:cNvSpPr/>
          <p:nvPr/>
        </p:nvSpPr>
        <p:spPr>
          <a:xfrm>
            <a:off x="3355848" y="358444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600,000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355848" y="4242816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TEU/yr stated current capability [R17]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08776" y="3429000"/>
            <a:ext cx="2697480" cy="1371600"/>
          </a:xfrm>
          <a:prstGeom prst="roundRect">
            <a:avLst>
              <a:gd name="adj" fmla="val 3667"/>
            </a:avLst>
          </a:prstGeom>
          <a:solidFill>
            <a:srgbClr val="F2F5F7"/>
          </a:solidFill>
          <a:ln/>
        </p:spPr>
      </p:sp>
      <p:sp>
        <p:nvSpPr>
          <p:cNvPr id="29" name="Text 27"/>
          <p:cNvSpPr/>
          <p:nvPr/>
        </p:nvSpPr>
        <p:spPr>
          <a:xfrm>
            <a:off x="6208776" y="358444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RM374m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208776" y="4242816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BPMB financing approved [R25]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061704" y="3429000"/>
            <a:ext cx="2697480" cy="1371600"/>
          </a:xfrm>
          <a:prstGeom prst="roundRect">
            <a:avLst>
              <a:gd name="adj" fmla="val 3667"/>
            </a:avLst>
          </a:prstGeom>
          <a:solidFill>
            <a:srgbClr val="F2F5F7"/>
          </a:solidFill>
          <a:ln/>
        </p:spPr>
      </p:sp>
      <p:sp>
        <p:nvSpPr>
          <p:cNvPr id="32" name="Text 30"/>
          <p:cNvSpPr/>
          <p:nvPr/>
        </p:nvSpPr>
        <p:spPr>
          <a:xfrm>
            <a:off x="9061704" y="358444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: 20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061704" y="4242816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Mutiara Infra : Perlis MB Inc ownership of Mutiara Perlis [R14]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5029200"/>
            <a:ext cx="11183112" cy="1051560"/>
          </a:xfrm>
          <a:prstGeom prst="roundRect">
            <a:avLst>
              <a:gd name="adj" fmla="val 4783"/>
            </a:avLst>
          </a:prstGeom>
          <a:solidFill>
            <a:srgbClr val="F7EFE2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513892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Disclosed source conflicts: </a:t>
            </a:r>
            <a:pPr indent="0" marL="0">
              <a:buNone/>
            </a:pPr>
            <a:r>
              <a:rPr lang="en-US" sz="10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 reported between RM327m and RM492m across outlets; ultimate capacity reported as both 1M and 2M TEU/yr. Figures used here are the best-attested official statements. [R17, R26, R27, R37, R38]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· PUBLIC RESEARCH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Malaysia–Thailand trade: the demand base is verified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838944" y="274320"/>
            <a:ext cx="1847088" cy="274320"/>
          </a:xfrm>
          <a:prstGeom prst="roundRect">
            <a:avLst>
              <a:gd name="adj" fmla="val 50000"/>
            </a:avLst>
          </a:prstGeom>
          <a:solidFill>
            <a:srgbClr val="2F7D5B"/>
          </a:solidFill>
          <a:ln/>
        </p:spPr>
      </p:sp>
      <p:sp>
        <p:nvSpPr>
          <p:cNvPr id="7" name="Text 5"/>
          <p:cNvSpPr/>
          <p:nvPr/>
        </p:nvSpPr>
        <p:spPr>
          <a:xfrm>
            <a:off x="9838944" y="27432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PUBLICLY VERIFIED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2697480" cy="1600200"/>
          </a:xfrm>
          <a:prstGeom prst="roundRect">
            <a:avLst>
              <a:gd name="adj" fmla="val 3143"/>
            </a:avLst>
          </a:prstGeom>
          <a:solidFill>
            <a:srgbClr val="F2F5F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1051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US$25.06bn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02920" y="24688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bilateral trade 2024; ~40% via land borders [R47]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55848" y="1600200"/>
            <a:ext cx="2697480" cy="1600200"/>
          </a:xfrm>
          <a:prstGeom prst="roundRect">
            <a:avLst>
              <a:gd name="adj" fmla="val 3143"/>
            </a:avLst>
          </a:prstGeom>
          <a:solidFill>
            <a:srgbClr val="F2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3355848" y="181051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US$30bn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355848" y="24688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2027 target (3rd Joint Trade Committee) [R46]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08776" y="1600200"/>
            <a:ext cx="2697480" cy="1600200"/>
          </a:xfrm>
          <a:prstGeom prst="roundRect">
            <a:avLst>
              <a:gd name="adj" fmla="val 3143"/>
            </a:avLst>
          </a:prstGeom>
          <a:solidFill>
            <a:srgbClr val="F2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6208776" y="181051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102.3bn baht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208776" y="24688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checkpoint 2024, +25.9% YoY [R48]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61704" y="1600200"/>
            <a:ext cx="2697480" cy="1600200"/>
          </a:xfrm>
          <a:prstGeom prst="roundRect">
            <a:avLst>
              <a:gd name="adj" fmla="val 3143"/>
            </a:avLst>
          </a:prstGeom>
          <a:solidFill>
            <a:srgbClr val="F2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9061704" y="181051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315.1bn baht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061704" y="24688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Thai–Malaysia border trade 2025 — Thailand's largest border partner [R49]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moves across this border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3886200"/>
            <a:ext cx="11155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Exports through Sadao/Padang Besar led by hard disk drives and processed wood; rubber (TSNR) via Songkhla checkpoints +39.3% [R48]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F&amp;B reported as the largest cross-border category, followed by E&amp;E (single source) [R50]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Sadao handles ~2× Padang Besar's trade value — but Padang Besar is growing far faster and owns the rail channel [R48]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~70% of southern Thailand's export cargo transships via Penang — the corridor this platform would serve [R51]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· PUBLIC RESEARCH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initiatives: federal, state and bilateral layers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838944" y="274320"/>
            <a:ext cx="1847088" cy="274320"/>
          </a:xfrm>
          <a:prstGeom prst="roundRect">
            <a:avLst>
              <a:gd name="adj" fmla="val 50000"/>
            </a:avLst>
          </a:prstGeom>
          <a:solidFill>
            <a:srgbClr val="2F7D5B"/>
          </a:solidFill>
          <a:ln/>
        </p:spPr>
      </p:sp>
      <p:sp>
        <p:nvSpPr>
          <p:cNvPr id="7" name="Text 5"/>
          <p:cNvSpPr/>
          <p:nvPr/>
        </p:nvSpPr>
        <p:spPr>
          <a:xfrm>
            <a:off x="9838944" y="27432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PUBLICLY VERIFIED</a:t>
            </a:r>
            <a:endParaRPr lang="en-US" sz="8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8311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4846320"/>
                <a:gridCol w="3429000"/>
                <a:gridCol w="15819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Relevance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Bilateral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US$30bn 2027 target + task force; Border Economic Zone announced Jul 2026; new BKH–Sadao road opened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Political momentum for border trade infrastructure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R46, R60, R42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PIKAS 2030 PPP master plan; National Transport Policy 2019–30; 13MP road-to-rail + Padang Besar Depot upgrade; NIMP 2030 (logistics as enabler)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Defines the PPP route (UKAS RFP), rail investment pipeline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R61, R58, R33, R59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NCIA (Act 687) mandate for NCER; Chuping Valley Industrial Area (2,482 acres, green/halal); IMT-GT corridor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statutory sponsor that already co-funded PIP external works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R56, R57, R53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Perlis investment drive (MIDA Invest Series 2025); Padang Besar designated growth area; largest-ever state budget 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government actively courting logistics investment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R39, R64, R65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Ownership rules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≥51% Malaysian ownership floor for port/strategic concessions (reaffirmed Jul 2026); Bumiputera equity conditions in logistics licensing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 constraint on consortium design (Section 13)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R62, R63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· PUBLIC RESEARCH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Thai side: capacity is coming toward this border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838944" y="274320"/>
            <a:ext cx="1847088" cy="274320"/>
          </a:xfrm>
          <a:prstGeom prst="roundRect">
            <a:avLst>
              <a:gd name="adj" fmla="val 50000"/>
            </a:avLst>
          </a:prstGeom>
          <a:solidFill>
            <a:srgbClr val="2F7D5B"/>
          </a:solidFill>
          <a:ln/>
        </p:spPr>
      </p:sp>
      <p:sp>
        <p:nvSpPr>
          <p:cNvPr id="7" name="Text 5"/>
          <p:cNvSpPr/>
          <p:nvPr/>
        </p:nvSpPr>
        <p:spPr>
          <a:xfrm>
            <a:off x="9838944" y="27432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PUBLICLY VERIFIED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7315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250" b="1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SRT southern double-tracking package includes Hat Yai–Padang Besar (45 km, ~7.77bn baht) — explicitly framed as strategic for the Malaysia corridor; bidding targeted within 2026. [R35]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Thai CIQ upgrade plans reported at Padang Besar (single source — scope/budget unpublished). [R20]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Sadao CIQ–Bukit Kayu Hitam road opened 10 July 2026 (11 vehicle + 14 immigration lanes/side, dual X-ray cargo terminal) — strengthens the competing road corridor. [R42]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Songkhla is southern Thailand's logistics province: rubber, wood, seafood export base; Padang Besar (Thai) station is the Southern Line freight terminus. [R48]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Thai Land Bridge (Chumphon–Ranong) remains in study flux — fresh environmental studies ordered June 2026; a long-run variable, not a near-term constraint. [R55]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1600200"/>
            <a:ext cx="3547872" cy="4023360"/>
          </a:xfrm>
          <a:prstGeom prst="roundRect">
            <a:avLst>
              <a:gd name="adj" fmla="val 1418"/>
            </a:avLst>
          </a:prstGeom>
          <a:solidFill>
            <a:srgbClr val="F2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36676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READ-THROUGH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66760" y="214884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 capacity into Padang Besar is being doubled from the Thai side while road capacity consolidates at Sadao–BKH. A rail-centred platform at Padang Besar aligns with where both governments are putting steel.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· PUBLIC RESEARCH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map: who already acts in this corridor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838944" y="274320"/>
            <a:ext cx="1847088" cy="274320"/>
          </a:xfrm>
          <a:prstGeom prst="roundRect">
            <a:avLst>
              <a:gd name="adj" fmla="val 50000"/>
            </a:avLst>
          </a:prstGeom>
          <a:solidFill>
            <a:srgbClr val="2F7D5B"/>
          </a:solidFill>
          <a:ln/>
        </p:spPr>
      </p:sp>
      <p:sp>
        <p:nvSpPr>
          <p:cNvPr id="7" name="Text 5"/>
          <p:cNvSpPr/>
          <p:nvPr/>
        </p:nvSpPr>
        <p:spPr>
          <a:xfrm>
            <a:off x="9838944" y="27432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PUBLICLY VERIFIED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8311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0"/>
                <a:gridCol w="15819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Stakeholders (published roles)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 (rail/logistics policy; PIP champion) · MITI/MIDA (trade target, promotion) · JKDM Customs · UKAS (PPP gatekeeper) · Railway Assets Corporation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R33, R46, R61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Regional/State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NCIA (external infra funder, CVIA developer) · Perlis state govt &amp; MB Inc (20% of Mutiara Perlis) · Padang Besar growth-area designation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R14, R23, R56, R65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Rail &amp; ports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KTMB (ASEAN Express, PIP O&amp;M, TKPB) · SRT (Southern Line, double-tracking) · Penang Port (70% of southern-Thai transshipment) · Kontena Nasional (ASEAN Express origin ICD)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R12, R16, R35, R51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Mutiara Perlis / Perlis Inland Port Sdn Bhd · Maersk (MOC) · CMA CGM/Infinity (block train) · Citaglobal, Berjaya Property (equity moves) · Kalmar (equipment)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R11, R22, R39, R41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Thai side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Thai Customs (Padang Besar &amp; Sadao houses) · SRT · Songkhla province · Thai MOT/OTP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R35, R42, R48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· PUBLIC RESEARCH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could not verify — quarantined from all argumentation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015984" y="274320"/>
            <a:ext cx="2670048" cy="27432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7" name="Text 5"/>
          <p:cNvSpPr/>
          <p:nvPr/>
        </p:nvSpPr>
        <p:spPr>
          <a:xfrm>
            <a:off x="9015984" y="27432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OWNER CONFIRMATION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11155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Ultimate PIP capacity (1M vs 2M TEU/yr) and total PIP cost (RM327m–RM492m across outlets) — conflicting public figures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Malaysian checkpoint-level trade statistics (JKDM does not publish; Thai customs data used instead)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Commercial Zone gazettement instrument; bonded warehouse licences at PIP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uCustoms operational status at Padang Besar specifically; single-stop inspection implementation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route designated “R15” serving Padang Besar (referenced in early briefs — no such designation found)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Shandong Hi-Speed parent credit rating; Chinese trade-press claims of “&gt;RMB 60bn Malaysia orders”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MMC Corporation involvement in PIP; any SDHS/CSI mandate in Perlis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 share of bilateral trade; ASEAN Express cumulative volumes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 Economic Zone boundaries and incentives (announced July 2026; details unpublished)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5623560"/>
            <a:ext cx="11183112" cy="685800"/>
          </a:xfrm>
          <a:prstGeom prst="roundRect">
            <a:avLst>
              <a:gd name="adj" fmla="val 7333"/>
            </a:avLst>
          </a:prstGeom>
          <a:solidFill>
            <a:srgbClr val="F2F5F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56235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applied: anything on this list is excluded from the business case and routed to due diligence (Section 11) or owner questions (Section 12).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85800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Ecosystem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40690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cargo actually moves through Padang Besar today — road, rail, warehouse, container, cold chain, border and customs.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 flow map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 process flows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inventory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gaps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· CURRENT ECOSYSTEM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 flow: how the pieces connect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838944" y="274320"/>
            <a:ext cx="1847088" cy="274320"/>
          </a:xfrm>
          <a:prstGeom prst="roundRect">
            <a:avLst>
              <a:gd name="adj" fmla="val 50000"/>
            </a:avLst>
          </a:prstGeom>
          <a:solidFill>
            <a:srgbClr val="2F7D5B"/>
          </a:solidFill>
          <a:ln/>
        </p:spPr>
      </p:sp>
      <p:sp>
        <p:nvSpPr>
          <p:cNvPr id="7" name="Text 5"/>
          <p:cNvSpPr/>
          <p:nvPr/>
        </p:nvSpPr>
        <p:spPr>
          <a:xfrm>
            <a:off x="9838944" y="27432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PUBLICLY VERIFIED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THAILAND · Songkhla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2414016" cy="777240"/>
          </a:xfrm>
          <a:prstGeom prst="roundRect">
            <a:avLst>
              <a:gd name="adj" fmla="val 6471"/>
            </a:avLst>
          </a:prstGeom>
          <a:solidFill>
            <a:srgbClr val="F2F5F7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178308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 Yai rail hub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SRT Southern Line (metre gauge)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48940" y="208940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9544" y="1783080"/>
            <a:ext cx="2414016" cy="777240"/>
          </a:xfrm>
          <a:prstGeom prst="roundRect">
            <a:avLst>
              <a:gd name="adj" fmla="val 6471"/>
            </a:avLst>
          </a:prstGeom>
          <a:solidFill>
            <a:srgbClr val="F2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3282696" y="178308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Thai roads / Sadao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trucking to border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554480"/>
            <a:ext cx="2377440" cy="1234440"/>
          </a:xfrm>
          <a:prstGeom prst="roundRect">
            <a:avLst>
              <a:gd name="adj" fmla="val 4074"/>
            </a:avLst>
          </a:prstGeom>
          <a:solidFill>
            <a:srgbClr val="13293D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55448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(juxtaposed CIQ) + road ICQS 06:00–22:00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95360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F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MALAYSIA · Perlis and beyond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95360" y="1783080"/>
            <a:ext cx="3090672" cy="777240"/>
          </a:xfrm>
          <a:prstGeom prst="roundRect">
            <a:avLst>
              <a:gd name="adj" fmla="val 6471"/>
            </a:avLst>
          </a:prstGeom>
          <a:solidFill>
            <a:srgbClr val="F2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8668512" y="1783080"/>
            <a:ext cx="2944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Perlis Inland Port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500-acre FCZ, bonded road, rail siding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0" y="2057400"/>
            <a:ext cx="365760" cy="182880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20" name="Shape 18"/>
          <p:cNvSpPr/>
          <p:nvPr/>
        </p:nvSpPr>
        <p:spPr>
          <a:xfrm>
            <a:off x="8503920" y="2057400"/>
            <a:ext cx="320040" cy="182880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" y="3291840"/>
            <a:ext cx="2576322" cy="1051560"/>
          </a:xfrm>
          <a:prstGeom prst="roundRect">
            <a:avLst>
              <a:gd name="adj" fmla="val 4783"/>
            </a:avLst>
          </a:prstGeom>
          <a:solidFill>
            <a:srgbClr val="F2F5F7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" y="3291840"/>
            <a:ext cx="24300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KTMB West Coast Line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electrified double track, metre gauge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11246" y="373532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24" name="Shape 22"/>
          <p:cNvSpPr/>
          <p:nvPr/>
        </p:nvSpPr>
        <p:spPr>
          <a:xfrm>
            <a:off x="3371850" y="3291840"/>
            <a:ext cx="2576322" cy="1051560"/>
          </a:xfrm>
          <a:prstGeom prst="roundRect">
            <a:avLst>
              <a:gd name="adj" fmla="val 4783"/>
            </a:avLst>
          </a:prstGeom>
          <a:solidFill>
            <a:srgbClr val="F2F5F7"/>
          </a:solidFill>
          <a:ln/>
        </p:spPr>
      </p:sp>
      <p:sp>
        <p:nvSpPr>
          <p:cNvPr id="25" name="Text 23"/>
          <p:cNvSpPr/>
          <p:nvPr/>
        </p:nvSpPr>
        <p:spPr>
          <a:xfrm>
            <a:off x="3445002" y="3291840"/>
            <a:ext cx="24300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Penang Port (NBCT)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landbridge sea gateway — 70% of southern-Thai transshipment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0176" y="373532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27" name="Shape 25"/>
          <p:cNvSpPr/>
          <p:nvPr/>
        </p:nvSpPr>
        <p:spPr>
          <a:xfrm>
            <a:off x="6240780" y="3291840"/>
            <a:ext cx="2576322" cy="1051560"/>
          </a:xfrm>
          <a:prstGeom prst="roundRect">
            <a:avLst>
              <a:gd name="adj" fmla="val 4783"/>
            </a:avLst>
          </a:prstGeom>
          <a:solidFill>
            <a:srgbClr val="F2F5F7"/>
          </a:solidFill>
          <a:ln/>
        </p:spPr>
      </p:sp>
      <p:sp>
        <p:nvSpPr>
          <p:cNvPr id="28" name="Text 26"/>
          <p:cNvSpPr/>
          <p:nvPr/>
        </p:nvSpPr>
        <p:spPr>
          <a:xfrm>
            <a:off x="6313932" y="3291840"/>
            <a:ext cx="24300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Klang Valley / Port Klang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market + ASEAN Express origin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849106" y="373532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30" name="Shape 28"/>
          <p:cNvSpPr/>
          <p:nvPr/>
        </p:nvSpPr>
        <p:spPr>
          <a:xfrm>
            <a:off x="9109710" y="3291840"/>
            <a:ext cx="2576322" cy="1051560"/>
          </a:xfrm>
          <a:prstGeom prst="roundRect">
            <a:avLst>
              <a:gd name="adj" fmla="val 4783"/>
            </a:avLst>
          </a:prstGeom>
          <a:solidFill>
            <a:srgbClr val="F2F5F7"/>
          </a:solidFill>
          <a:ln/>
        </p:spPr>
      </p:sp>
      <p:sp>
        <p:nvSpPr>
          <p:cNvPr id="31" name="Text 29"/>
          <p:cNvSpPr/>
          <p:nvPr/>
        </p:nvSpPr>
        <p:spPr>
          <a:xfrm>
            <a:off x="9182862" y="3291840"/>
            <a:ext cx="24300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corridor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Lat Krabang → Thanaleng (gauge break) → Chongqing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4754880"/>
            <a:ext cx="11183112" cy="1325880"/>
          </a:xfrm>
          <a:prstGeom prst="roundRect">
            <a:avLst>
              <a:gd name="adj" fmla="val 3793"/>
            </a:avLst>
          </a:prstGeom>
          <a:solidFill>
            <a:srgbClr val="F2F5F7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864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structural facts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5175504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gauge break at this border (both metre gauge) — rail interchange here is commercial, not technical [R9, R30]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cargo constrained by the 16-hour border window; heavy road flows consolidating at Bukit Kayu Hitam–Sadao [R4, R42]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· CURRENT ECOSYSTEM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 process: rail vs road today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838944" y="274320"/>
            <a:ext cx="1847088" cy="274320"/>
          </a:xfrm>
          <a:prstGeom prst="roundRect">
            <a:avLst>
              <a:gd name="adj" fmla="val 50000"/>
            </a:avLst>
          </a:prstGeom>
          <a:solidFill>
            <a:srgbClr val="2F7D5B"/>
          </a:solidFill>
          <a:ln/>
        </p:spPr>
      </p:sp>
      <p:sp>
        <p:nvSpPr>
          <p:cNvPr id="7" name="Text 5"/>
          <p:cNvSpPr/>
          <p:nvPr/>
        </p:nvSpPr>
        <p:spPr>
          <a:xfrm>
            <a:off x="9838944" y="27432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PUBLICLY VERIFIED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 CARGO (juxtaposed controls)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2576322" cy="914400"/>
          </a:xfrm>
          <a:prstGeom prst="roundRect">
            <a:avLst>
              <a:gd name="adj" fmla="val 5500"/>
            </a:avLst>
          </a:prstGeom>
          <a:solidFill>
            <a:srgbClr val="F2F5F7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1874520"/>
            <a:ext cx="2430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at origin ICD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/ Perai / Lat Krabang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11246" y="224942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12" name="Shape 10"/>
          <p:cNvSpPr/>
          <p:nvPr/>
        </p:nvSpPr>
        <p:spPr>
          <a:xfrm>
            <a:off x="3371850" y="1874520"/>
            <a:ext cx="2576322" cy="914400"/>
          </a:xfrm>
          <a:prstGeom prst="roundRect">
            <a:avLst>
              <a:gd name="adj" fmla="val 5500"/>
            </a:avLst>
          </a:prstGeom>
          <a:solidFill>
            <a:srgbClr val="F2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3445002" y="1874520"/>
            <a:ext cx="2430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Line-haul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KTMB or SRT metre gauge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0176" y="224942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240780" y="1874520"/>
            <a:ext cx="2576322" cy="914400"/>
          </a:xfrm>
          <a:prstGeom prst="roundRect">
            <a:avLst>
              <a:gd name="adj" fmla="val 5500"/>
            </a:avLst>
          </a:prstGeom>
          <a:solidFill>
            <a:srgbClr val="F2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6313932" y="1874520"/>
            <a:ext cx="2430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station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+ TH clearance co-located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849106" y="224942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109710" y="1874520"/>
            <a:ext cx="2576322" cy="914400"/>
          </a:xfrm>
          <a:prstGeom prst="roundRect">
            <a:avLst>
              <a:gd name="adj" fmla="val 5500"/>
            </a:avLst>
          </a:prstGeom>
          <a:solidFill>
            <a:srgbClr val="F2F5F7"/>
          </a:solidFill>
          <a:ln/>
        </p:spPr>
      </p:sp>
      <p:sp>
        <p:nvSpPr>
          <p:cNvPr id="19" name="Text 17"/>
          <p:cNvSpPr/>
          <p:nvPr/>
        </p:nvSpPr>
        <p:spPr>
          <a:xfrm>
            <a:off x="9182862" y="1874520"/>
            <a:ext cx="2430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Onward line-haul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transshipment needed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3108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CARGO (sequential controls, 06:00–22:00)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429000"/>
            <a:ext cx="2576322" cy="914400"/>
          </a:xfrm>
          <a:prstGeom prst="roundRect">
            <a:avLst>
              <a:gd name="adj" fmla="val 5500"/>
            </a:avLst>
          </a:prstGeom>
          <a:solidFill>
            <a:srgbClr val="F2F5F7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" y="3429000"/>
            <a:ext cx="2430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at approach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managed marshalling documented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11246" y="380390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24" name="Shape 22"/>
          <p:cNvSpPr/>
          <p:nvPr/>
        </p:nvSpPr>
        <p:spPr>
          <a:xfrm>
            <a:off x="3371850" y="3429000"/>
            <a:ext cx="2576322" cy="914400"/>
          </a:xfrm>
          <a:prstGeom prst="roundRect">
            <a:avLst>
              <a:gd name="adj" fmla="val 5500"/>
            </a:avLst>
          </a:prstGeom>
          <a:solidFill>
            <a:srgbClr val="F2F5F7"/>
          </a:solidFill>
          <a:ln/>
        </p:spPr>
      </p:sp>
      <p:sp>
        <p:nvSpPr>
          <p:cNvPr id="25" name="Text 23"/>
          <p:cNvSpPr/>
          <p:nvPr/>
        </p:nvSpPr>
        <p:spPr>
          <a:xfrm>
            <a:off x="3445002" y="3429000"/>
            <a:ext cx="2430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CIQ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origin-side customs &amp; immigration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80176" y="380390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27" name="Shape 25"/>
          <p:cNvSpPr/>
          <p:nvPr/>
        </p:nvSpPr>
        <p:spPr>
          <a:xfrm>
            <a:off x="6240780" y="3429000"/>
            <a:ext cx="2576322" cy="914400"/>
          </a:xfrm>
          <a:prstGeom prst="roundRect">
            <a:avLst>
              <a:gd name="adj" fmla="val 5500"/>
            </a:avLst>
          </a:prstGeom>
          <a:solidFill>
            <a:srgbClr val="F2F5F7"/>
          </a:solidFill>
          <a:ln/>
        </p:spPr>
      </p:sp>
      <p:sp>
        <p:nvSpPr>
          <p:cNvPr id="28" name="Text 26"/>
          <p:cNvSpPr/>
          <p:nvPr/>
        </p:nvSpPr>
        <p:spPr>
          <a:xfrm>
            <a:off x="6313932" y="3429000"/>
            <a:ext cx="2430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ICQS/CIQ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destination-side inspection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849106" y="380390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30" name="Shape 28"/>
          <p:cNvSpPr/>
          <p:nvPr/>
        </p:nvSpPr>
        <p:spPr>
          <a:xfrm>
            <a:off x="9109710" y="3429000"/>
            <a:ext cx="2576322" cy="914400"/>
          </a:xfrm>
          <a:prstGeom prst="roundRect">
            <a:avLst>
              <a:gd name="adj" fmla="val 5500"/>
            </a:avLst>
          </a:prstGeom>
          <a:solidFill>
            <a:srgbClr val="F2F5F7"/>
          </a:solidFill>
          <a:ln/>
        </p:spPr>
      </p:sp>
      <p:sp>
        <p:nvSpPr>
          <p:cNvPr id="31" name="Text 29"/>
          <p:cNvSpPr/>
          <p:nvPr/>
        </p:nvSpPr>
        <p:spPr>
          <a:xfrm>
            <a:off x="9182862" y="3429000"/>
            <a:ext cx="2430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Onward haulage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FT7/FT79 → expressway via Changlun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4709160"/>
            <a:ext cx="11183112" cy="1371600"/>
          </a:xfrm>
          <a:prstGeom prst="roundRect">
            <a:avLst>
              <a:gd name="adj" fmla="val 3667"/>
            </a:avLst>
          </a:prstGeom>
          <a:solidFill>
            <a:srgbClr val="F7EFE2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828032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friction points are visible: </a:t>
            </a:r>
            <a:pPr indent="0" marL="0">
              <a:buNone/>
            </a:pPr>
            <a:r>
              <a:rPr lang="en-US" sz="11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unmanaged truck queues against a hard 22:00 cutoff, paper-heavy road clearance, and no published integrated visibility from booking to release. Rail avoids most of this — which is why the corridor's growth is running through it. (Team interpretation based on referenced facts.)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· CURRENT ECOSYSTEM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inventory: what exists at the border today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838944" y="274320"/>
            <a:ext cx="1847088" cy="274320"/>
          </a:xfrm>
          <a:prstGeom prst="roundRect">
            <a:avLst>
              <a:gd name="adj" fmla="val 50000"/>
            </a:avLst>
          </a:prstGeom>
          <a:solidFill>
            <a:srgbClr val="2F7D5B"/>
          </a:solidFill>
          <a:ln/>
        </p:spPr>
      </p:sp>
      <p:sp>
        <p:nvSpPr>
          <p:cNvPr id="7" name="Text 5"/>
          <p:cNvSpPr/>
          <p:nvPr/>
        </p:nvSpPr>
        <p:spPr>
          <a:xfrm>
            <a:off x="9838944" y="27432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PUBLICLY VERIFIED</a:t>
            </a:r>
            <a:endParaRPr lang="en-US" sz="8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831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589520"/>
                <a:gridCol w="15819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state (published)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 terminal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Legacy TKPB: 150,000 TEU/yr, ~80% utilised before migration; operations moved to PIP 12 Apr 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R15, R16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Inland port / FCZ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PIP: 500 acres, 600,000 TEU/yr capability, bonded road, rail siding, FCZ launched 30 May 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Warehousing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 warehousing targets halal, automotive, rubber; no other large modern stock documented at the border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Cold chain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large-scale multi-user cold-chain facility documented in public sources — apparent white space (interpretation)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Truck facilities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managed marshalling/booking system documented; border hours 06:00–22:00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Customs facilities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ICQS complex (road) + juxtaposed controls (rail); Thai CIQ upgrade plans reported (single source)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R3, R20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Handling equipment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PIP: RM17m Kalmar order (15 units) via Mach 1, May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R36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· CURRENT ECOSYSTEM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gaps: five white spaces (team interpretation)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113264" y="274320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33566E"/>
          </a:solidFill>
          <a:ln/>
        </p:spPr>
      </p:sp>
      <p:sp>
        <p:nvSpPr>
          <p:cNvPr id="7" name="Text 5"/>
          <p:cNvSpPr/>
          <p:nvPr/>
        </p:nvSpPr>
        <p:spPr>
          <a:xfrm>
            <a:off x="10113264" y="2743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3611880" cy="1920240"/>
          </a:xfrm>
          <a:prstGeom prst="roundRect">
            <a:avLst>
              <a:gd name="adj" fmla="val 2619"/>
            </a:avLst>
          </a:prstGeom>
          <a:solidFill>
            <a:srgbClr val="F2F5F7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72821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16152" y="17647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chain at scale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313432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Perishables flow both ways (Thai fruit/seafood south, Malaysian halal north) with no documented multi-user cold facility at the border.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25112" y="1600200"/>
            <a:ext cx="3611880" cy="1920240"/>
          </a:xfrm>
          <a:prstGeom prst="roundRect">
            <a:avLst>
              <a:gd name="adj" fmla="val 2619"/>
            </a:avLst>
          </a:prstGeom>
          <a:solidFill>
            <a:srgbClr val="F2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4489704" y="172821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38344" y="17647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 marshalling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07992" y="2313432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hard 22:00 cutoff with unmanaged queues = monetisable slot booking, secure parking and call-up services.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47304" y="1600200"/>
            <a:ext cx="3611880" cy="1920240"/>
          </a:xfrm>
          <a:prstGeom prst="roundRect">
            <a:avLst>
              <a:gd name="adj" fmla="val 2619"/>
            </a:avLst>
          </a:prstGeom>
          <a:solidFill>
            <a:srgbClr val="F2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8311896" y="172821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860536" y="17647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corridor visibility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30184" y="2313432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published integrated system links booking → gate → customs status → release across the crossing.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703320"/>
            <a:ext cx="3611880" cy="1920240"/>
          </a:xfrm>
          <a:prstGeom prst="roundRect">
            <a:avLst>
              <a:gd name="adj" fmla="val 2619"/>
            </a:avLst>
          </a:prstGeom>
          <a:solidFill>
            <a:srgbClr val="F2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383133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216152" y="38679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Free-zone VAS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4416552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Labelling, kitting, halal certification support and light processing inside zone conditions — early-stage at PIP.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25112" y="3703320"/>
            <a:ext cx="3611880" cy="1920240"/>
          </a:xfrm>
          <a:prstGeom prst="roundRect">
            <a:avLst>
              <a:gd name="adj" fmla="val 2619"/>
            </a:avLst>
          </a:prstGeom>
          <a:solidFill>
            <a:srgbClr val="F2F5F7"/>
          </a:solidFill>
          <a:ln/>
        </p:spPr>
      </p:sp>
      <p:sp>
        <p:nvSpPr>
          <p:cNvPr id="25" name="Text 23"/>
          <p:cNvSpPr/>
          <p:nvPr/>
        </p:nvSpPr>
        <p:spPr>
          <a:xfrm>
            <a:off x="4489704" y="383133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038344" y="38679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24-hour operations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07992" y="4416552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bilateral policy matter, repeatedly raised, unresolved — the single biggest unlock, outside private control.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147304" y="3703320"/>
            <a:ext cx="3538728" cy="2103120"/>
          </a:xfrm>
          <a:prstGeom prst="roundRect">
            <a:avLst>
              <a:gd name="adj" fmla="val 2391"/>
            </a:avLst>
          </a:prstGeom>
          <a:solidFill>
            <a:srgbClr val="13293D"/>
          </a:solidFill>
          <a:ln/>
        </p:spPr>
      </p:sp>
      <p:sp>
        <p:nvSpPr>
          <p:cNvPr id="29" name="Text 27"/>
          <p:cNvSpPr/>
          <p:nvPr/>
        </p:nvSpPr>
        <p:spPr>
          <a:xfrm>
            <a:off x="8366760" y="388620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five gaps are the demand hypotheses the feasibility study must test — they are interpretations, not established markets.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85800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Opportunities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40690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map across the platform lifecycle — construction, operations, commercial, asset management, expansion, digital.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scope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commercial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management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&amp; digital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· PROJECT OPPORTUNITIES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operate: the physical opportunity set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661904" y="274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7" name="Text 5"/>
          <p:cNvSpPr/>
          <p:nvPr/>
        </p:nvSpPr>
        <p:spPr>
          <a:xfrm>
            <a:off x="10661904" y="274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8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3112" cy="914400"/>
        </p:xfrm>
        <a:graphic>
          <a:graphicData uri="http://schemas.openxmlformats.org/drawingml/2006/table">
            <a:tbl>
              <a:tblPr/>
              <a:tblGrid>
                <a:gridCol w="5577840"/>
                <a:gridCol w="56052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Construction (◆ = needs land/rights, ● = needs govt/agency agreement)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development &amp; flood-resilient earthworks 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Terminal operations: rail yard + container yard (self-perform or operator partner)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Warehouses: ambient, bonded, cold chain — smart-warehouse spec 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Warehouse operations: 3PL contracts, bonded ops, cold-chain management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Rail sidings &amp; terminal trackworks (KTMB agreement) ◆●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Truck terminal: marshalling, booking slots, secure overnight parking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roads, truck marshalling infrastructure 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Facility management, security, equipment maintenance &amp; rental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Utilities: substations, water, fire, solar PV, standby power 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Reefer pre-trip inspection, container repair &amp; washing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Buildings: admin, commercial, customs/agency facilities ◆●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Border-services support offered to agencies (inspection support) 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infrastructure built with civil works, not retrofitted 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Energy services: solar PPA, energy-as-a-service for cold tenants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59436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Precedent: the SDHS–PTT Synergy smart-warehousing framework (Sep 2025) shows the build model is already active in Malaysia. [R72, R73]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· PROJECT OPPORTUNITIES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Commercial, asset management and digital layers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661904" y="274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7" name="Text 5"/>
          <p:cNvSpPr/>
          <p:nvPr/>
        </p:nvSpPr>
        <p:spPr>
          <a:xfrm>
            <a:off x="10661904" y="274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3611880" cy="4206240"/>
          </a:xfrm>
          <a:prstGeom prst="roundRect">
            <a:avLst>
              <a:gd name="adj" fmla="val 1392"/>
            </a:avLst>
          </a:prstGeom>
          <a:solidFill>
            <a:srgbClr val="F2F5F7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4088" y="2194560"/>
            <a:ext cx="3246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leasing: 3PLs, forwarders, Thai &amp; Malaysian shippers, e-commerce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Free-zone VAS: labelling, kitting, halal support, light assembly ●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services cluster: brokers, banks, insurers, surveyors as tenants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Fuel, retail, F&amp;B concessions serving driver traffic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5112" y="1600200"/>
            <a:ext cx="3611880" cy="4206240"/>
          </a:xfrm>
          <a:prstGeom prst="roundRect">
            <a:avLst>
              <a:gd name="adj" fmla="val 1392"/>
            </a:avLst>
          </a:prstGeom>
          <a:solidFill>
            <a:srgbClr val="F2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MANAGEMENT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2194560"/>
            <a:ext cx="3246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55000 regime as a paid service to the SPV and zone tenants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renewal programme management over a 30+ year life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management and solar PPA structures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Digital-twin-driven lifecycle optimisation (Section 6)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47304" y="1600200"/>
            <a:ext cx="3611880" cy="4206240"/>
          </a:xfrm>
          <a:prstGeom prst="roundRect">
            <a:avLst>
              <a:gd name="adj" fmla="val 1392"/>
            </a:avLst>
          </a:prstGeom>
          <a:solidFill>
            <a:srgbClr val="F2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8348472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48472" y="2194560"/>
            <a:ext cx="3246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 visibility platform: booking → gate → customs → delivery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products for shippers, forwarders and agencies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Smart-warehouse services on SDHS-ecosystem automation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Command-centre services to tenants and, potentially, agencies ●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59436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= requires government/agency agreement — routed to Section 12 owner questions and Phase 1–2 engagement.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· PROJECT OPPORTUNITIES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options: what Phase 2+ can become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661904" y="274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7" name="Text 5"/>
          <p:cNvSpPr/>
          <p:nvPr/>
        </p:nvSpPr>
        <p:spPr>
          <a:xfrm>
            <a:off x="10661904" y="274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45920"/>
            <a:ext cx="3611880" cy="1874520"/>
          </a:xfrm>
          <a:prstGeom prst="roundRect">
            <a:avLst>
              <a:gd name="adj" fmla="val 2683"/>
            </a:avLst>
          </a:prstGeom>
          <a:solidFill>
            <a:srgbClr val="F2F5F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1051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fulfilment campus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450592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Riding cross-border e-commerce growth on the rail corridor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25112" y="1645920"/>
            <a:ext cx="3611880" cy="1874520"/>
          </a:xfrm>
          <a:prstGeom prst="roundRect">
            <a:avLst>
              <a:gd name="adj" fmla="val 2683"/>
            </a:avLst>
          </a:prstGeom>
          <a:solidFill>
            <a:srgbClr val="F2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4507992" y="181051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Halal logistics hub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07992" y="2450592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with Chuping Valley Industrial Area's halal-industry positioning ● [R57]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47304" y="1645920"/>
            <a:ext cx="3611880" cy="1874520"/>
          </a:xfrm>
          <a:prstGeom prst="roundRect">
            <a:avLst>
              <a:gd name="adj" fmla="val 2683"/>
            </a:avLst>
          </a:prstGeom>
          <a:solidFill>
            <a:srgbClr val="F2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8330184" y="181051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Cold-chain corridor scaling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30184" y="2450592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with Thai perishables and Malaysian halal exports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749040"/>
            <a:ext cx="3611880" cy="1874520"/>
          </a:xfrm>
          <a:prstGeom prst="roundRect">
            <a:avLst>
              <a:gd name="adj" fmla="val 2683"/>
            </a:avLst>
          </a:prstGeom>
          <a:solidFill>
            <a:srgbClr val="F2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91363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Standard-gauge readiness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4553712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provision if Pan-Asian rail plans ever extend south ●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25112" y="3749040"/>
            <a:ext cx="3611880" cy="1874520"/>
          </a:xfrm>
          <a:prstGeom prst="roundRect">
            <a:avLst>
              <a:gd name="adj" fmla="val 2683"/>
            </a:avLst>
          </a:prstGeom>
          <a:solidFill>
            <a:srgbClr val="F2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4507992" y="391363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replication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07992" y="4553712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platform + digital playbook at other crossings (Rantau Panjang, Bukit Kayu Hitam)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3749040"/>
            <a:ext cx="3611880" cy="1874520"/>
          </a:xfrm>
          <a:prstGeom prst="roundRect">
            <a:avLst>
              <a:gd name="adj" fmla="val 2683"/>
            </a:avLst>
          </a:prstGeom>
          <a:solidFill>
            <a:srgbClr val="F2F5F7"/>
          </a:solidFill>
          <a:ln/>
        </p:spPr>
      </p:sp>
      <p:sp>
        <p:nvSpPr>
          <p:cNvPr id="24" name="Text 22"/>
          <p:cNvSpPr/>
          <p:nvPr/>
        </p:nvSpPr>
        <p:spPr>
          <a:xfrm>
            <a:off x="8330184" y="391363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 Economic Zone play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330184" y="4553712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Participate once incentives are gazetted (announced Jul 2026) ● [R60]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59436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expansion options are design-stage provisions only — safeguarded land and corridors (WP20), not committed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85800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 Work Packages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40690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Twenty packages structured for consortium scope allocation, staged financing and early-revenue sequencing. Scope and siting pending owner confirmation.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WP01–04 Enabling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WP05–10 Core logistics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WP11–14 Buildings &amp; border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WP15–17 Digital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WP18–20 Readiness &amp; expansion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 · WORK PACKAGES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WP01–WP10: enabling works and core logistics infrastructure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661904" y="274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7" name="Text 5"/>
          <p:cNvSpPr/>
          <p:nvPr/>
        </p:nvSpPr>
        <p:spPr>
          <a:xfrm>
            <a:off x="10661904" y="274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8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651760"/>
                <a:gridCol w="7754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 highlights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WP01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investigation &amp; surveys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Topo/geotech/hydrology, utilities, boundary, environmental &amp; social baseline, border traffic counts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WP02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Enabling works &amp; earthworks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Clearance, cut-and-fill, ground improvement, platform formation, construction drainage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WP03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Utilities &amp; services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 intake + substations (TNB), water, sewerage, telecom ducting, fire systems, standby power, solar provision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WP04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Roads, drainage, landscape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heavy-duty pavements, stormwater + flood mitigation, fencing, buffers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WP05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Rail siding &amp; trackworks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Sidings to KTMB corridor (subject to agreement), turnouts, terminal pavement — no gauge break exists; passive future-gauge provision only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WP06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Rail systems &amp; signalling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Terminal signalling, main-line interlocking interface, rail weighbridge-in-motion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WP07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 yard &amp; intermodal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Paved yard, reefer racks, handling equipment, yard lighting/CCTV masts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WP08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&amp; bonded warehousing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Ambient + bonded zones with customs-compliant segregation, docks, VAS areas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WP09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Cold chain facilities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Multi-temperature rooms, blast freezing, insulated docks, halal-compliant segregation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WP10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Truck terminal &amp; inspection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Marshalling yards, queue lanes, weighbridges, driver amenities, inspection canopies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 · WORK PACKAGES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WP11–WP20: buildings, digital systems and readiness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661904" y="274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7" name="Text 5"/>
          <p:cNvSpPr/>
          <p:nvPr/>
        </p:nvSpPr>
        <p:spPr>
          <a:xfrm>
            <a:off x="10661904" y="274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8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651760"/>
                <a:gridCol w="7754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 highlights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WP11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Customs &amp; agency facilities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Office/inspection space offered to JKDM, MAQIS, Immigration; scanner foundations (scanners typically govt-procured — TBC)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WP12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&amp; commercial buildings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HQ, tenant offices (forwarders, brokers, banks), canteen, surau, clinic, training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WP13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Workshops &amp; MRO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 repair/washing, equipment workshops, reefer PTI stations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WP14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infrastructure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Bonded-grade perimeter, access control, guardhouses, secondary inspection areas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WP15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Terminal operating system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TOS + rail planning module, EDI with KTMB/lines/hauliers, gate integration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WP16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WMS, billing &amp; ERP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Ambient/bonded/cold WMS, billing engine, customer portal, customs-system interfaces (subject to JKDM availability)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WP17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Site-wide digital infrastructure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Fibre, private wireless, data centre, IoT, ANPR, AI CCTV, command centre, digital twin, cyber stack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WP18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Testing &amp; operational readiness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Integrated testing, dry runs with hauliers/forwarders, customs rehearsal, hiring &amp; SOPs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WP19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Taking-over &amp; defects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Certification, punch lists, as-builts, digital twin handover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WP20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Future expansion provision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Safeguarded land/utility corridors for Phase 2+ — passive design provision only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 · WORK PACKAGES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 strategy: how the WPs go to market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113264" y="274320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33566E"/>
          </a:solidFill>
          <a:ln/>
        </p:spPr>
      </p:sp>
      <p:sp>
        <p:nvSpPr>
          <p:cNvPr id="7" name="Text 5"/>
          <p:cNvSpPr/>
          <p:nvPr/>
        </p:nvSpPr>
        <p:spPr>
          <a:xfrm>
            <a:off x="10113264" y="2743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7223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300"/>
              </a:spcAft>
              <a:buSzPct val="100000"/>
              <a:buChar char="–"/>
            </a:pPr>
            <a:r>
              <a:rPr lang="en-US" sz="1250" b="1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EPC wrap preferred. A fixed-price, date-certain EPC head contract over WP01–WP14 (+WP17 build) is the lender-friendly route; nominated subcontracts for rail systems and digital where specialists differ.</a:t>
            </a:r>
            <a:endParaRPr lang="en-US" sz="1250" dirty="0"/>
          </a:p>
          <a:p>
            <a:pPr marL="152400" indent="-152400">
              <a:spcAft>
                <a:spcPts val="13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 packages are schedule-critical. WP05–WP06 need KTMB technical approval and possession planning — engage before EPC pricing, and design the platform to open road-only if rail consent lags.</a:t>
            </a:r>
            <a:endParaRPr lang="en-US" sz="1250" dirty="0"/>
          </a:p>
          <a:p>
            <a:pPr marL="152400" indent="-152400">
              <a:spcAft>
                <a:spcPts val="13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Split-out option: WP15–WP17 as a systems-integrator contract under Prospek's integration accountability, if the technology consortium differs from the civil EPC.</a:t>
            </a:r>
            <a:endParaRPr lang="en-US" sz="1250" dirty="0"/>
          </a:p>
          <a:p>
            <a:pPr marL="152400" indent="-152400">
              <a:spcAft>
                <a:spcPts val="13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Long-lead items to order early: refrigeration plant (WP09), handling equipment (WP07), substation equipment (WP03), scanners/ANPR (WP17).</a:t>
            </a:r>
            <a:endParaRPr lang="en-US" sz="1250" dirty="0"/>
          </a:p>
          <a:p>
            <a:pPr marL="152400" indent="-152400">
              <a:spcAft>
                <a:spcPts val="13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content is structural, not optional: CIDB registration, Bumiputera contractor programmes and Malaysian subcontracting shape the EPC consortium from day one. [R62, R63]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0" y="1600200"/>
            <a:ext cx="3639312" cy="4206240"/>
          </a:xfrm>
          <a:prstGeom prst="roundRect">
            <a:avLst>
              <a:gd name="adj" fmla="val 1382"/>
            </a:avLst>
          </a:prstGeom>
          <a:solidFill>
            <a:srgbClr val="F2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27532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SEQUENCING LOGIC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75320" y="2240280"/>
            <a:ext cx="1453896" cy="777240"/>
          </a:xfrm>
          <a:prstGeom prst="roundRect">
            <a:avLst>
              <a:gd name="adj" fmla="val 6471"/>
            </a:avLst>
          </a:prstGeom>
          <a:solidFill>
            <a:srgbClr val="F2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8348472" y="2240280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WP01–04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761220" y="254660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21824" y="2240280"/>
            <a:ext cx="1453896" cy="777240"/>
          </a:xfrm>
          <a:prstGeom prst="roundRect">
            <a:avLst>
              <a:gd name="adj" fmla="val 6471"/>
            </a:avLst>
          </a:prstGeom>
          <a:solidFill>
            <a:srgbClr val="F2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10094976" y="2240280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WP05–10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75320" y="3246120"/>
            <a:ext cx="1453896" cy="777240"/>
          </a:xfrm>
          <a:prstGeom prst="roundRect">
            <a:avLst>
              <a:gd name="adj" fmla="val 6471"/>
            </a:avLst>
          </a:prstGeom>
          <a:solidFill>
            <a:srgbClr val="F2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8348472" y="3246120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WP11–14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761220" y="355244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21824" y="3246120"/>
            <a:ext cx="1453896" cy="777240"/>
          </a:xfrm>
          <a:prstGeom prst="roundRect">
            <a:avLst>
              <a:gd name="adj" fmla="val 6471"/>
            </a:avLst>
          </a:prstGeom>
          <a:solidFill>
            <a:srgbClr val="F2F5F7"/>
          </a:solidFill>
          <a:ln/>
        </p:spPr>
      </p:sp>
      <p:sp>
        <p:nvSpPr>
          <p:cNvPr id="20" name="Text 18"/>
          <p:cNvSpPr/>
          <p:nvPr/>
        </p:nvSpPr>
        <p:spPr>
          <a:xfrm>
            <a:off x="10094976" y="3246120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WP15–17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75320" y="4251960"/>
            <a:ext cx="1453896" cy="777240"/>
          </a:xfrm>
          <a:prstGeom prst="roundRect">
            <a:avLst>
              <a:gd name="adj" fmla="val 6471"/>
            </a:avLst>
          </a:prstGeom>
          <a:solidFill>
            <a:srgbClr val="F2F5F7"/>
          </a:solidFill>
          <a:ln/>
        </p:spPr>
      </p:sp>
      <p:sp>
        <p:nvSpPr>
          <p:cNvPr id="22" name="Text 20"/>
          <p:cNvSpPr/>
          <p:nvPr/>
        </p:nvSpPr>
        <p:spPr>
          <a:xfrm>
            <a:off x="8348472" y="4251960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WP18–19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761220" y="455828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21824" y="4251960"/>
            <a:ext cx="1453896" cy="777240"/>
          </a:xfrm>
          <a:prstGeom prst="roundRect">
            <a:avLst>
              <a:gd name="adj" fmla="val 6471"/>
            </a:avLst>
          </a:prstGeom>
          <a:solidFill>
            <a:srgbClr val="F2F5F7"/>
          </a:solidFill>
          <a:ln/>
        </p:spPr>
      </p:sp>
      <p:sp>
        <p:nvSpPr>
          <p:cNvPr id="25" name="Text 23"/>
          <p:cNvSpPr/>
          <p:nvPr/>
        </p:nvSpPr>
        <p:spPr>
          <a:xfrm>
            <a:off x="10094976" y="4251960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WP20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85800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Digitalisation Strategy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40690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digitally advanced land-border logistics facility in ASEAN — where the data layer is a revenue line, not a cost line.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Five-layer architecture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Sixteen capability modules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centre &amp; cyber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Phasing &amp; digital revenue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 · DIGITALISATION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Five-layer architecture: field sensors to revenue insight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661904" y="274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7" name="Text 5"/>
          <p:cNvSpPr/>
          <p:nvPr/>
        </p:nvSpPr>
        <p:spPr>
          <a:xfrm>
            <a:off x="10661904" y="274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11183112" cy="768096"/>
          </a:xfrm>
          <a:prstGeom prst="roundRect">
            <a:avLst>
              <a:gd name="adj" fmla="val 6548"/>
            </a:avLst>
          </a:prstGeom>
          <a:solidFill>
            <a:srgbClr val="C9962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72768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· INSIGHT &amp; REVENUE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931920" y="1572768"/>
            <a:ext cx="7589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dashboard · digital twin analytics · data products · ESG reporting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468880"/>
            <a:ext cx="11183112" cy="768096"/>
          </a:xfrm>
          <a:prstGeom prst="roundRect">
            <a:avLst>
              <a:gd name="adj" fmla="val 6548"/>
            </a:avLst>
          </a:prstGeom>
          <a:solidFill>
            <a:srgbClr val="33566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68880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· APPLICATIONS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931920" y="2468880"/>
            <a:ext cx="7589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 · WMS · truck management/VBS · asset management (EAM) · billing · customer portal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364992"/>
            <a:ext cx="11183112" cy="768096"/>
          </a:xfrm>
          <a:prstGeom prst="roundRect">
            <a:avLst>
              <a:gd name="adj" fmla="val 6548"/>
            </a:avLst>
          </a:prstGeom>
          <a:solidFill>
            <a:srgbClr val="3A6EA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64992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· PLATFORM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931920" y="3364992"/>
            <a:ext cx="7589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core (GIS + BIM) · IoT platform · video analytics · data lake · API/EDI bus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261104"/>
            <a:ext cx="11183112" cy="768096"/>
          </a:xfrm>
          <a:prstGeom prst="roundRect">
            <a:avLst>
              <a:gd name="adj" fmla="val 6548"/>
            </a:avLst>
          </a:prstGeom>
          <a:solidFill>
            <a:srgbClr val="2F6B8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61104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· NETWORK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931920" y="4261104"/>
            <a:ext cx="7589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Fibre backbone · private 4G/5G · LoRaWAN · redundant WAN · edge compute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5157216"/>
            <a:ext cx="11183112" cy="768096"/>
          </a:xfrm>
          <a:prstGeom prst="roundRect">
            <a:avLst>
              <a:gd name="adj" fmla="val 6548"/>
            </a:avLst>
          </a:prstGeom>
          <a:solidFill>
            <a:srgbClr val="13293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157216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· FIELD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931920" y="5157216"/>
            <a:ext cx="7589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CCTV · ANPR · IoT sensors · drones · weighbridges · RFID/OCR gates · smart meters · access control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61081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standards at every layer — no vendor lock-in; Chinese, Malaysian and international vendors compete at subsystem level.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 · DIGITALISATION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modules (1 of 2): the built environment goes digital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661904" y="274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7" name="Text 5"/>
          <p:cNvSpPr/>
          <p:nvPr/>
        </p:nvSpPr>
        <p:spPr>
          <a:xfrm>
            <a:off x="10661904" y="274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2697480" cy="2011680"/>
          </a:xfrm>
          <a:prstGeom prst="roundRect">
            <a:avLst>
              <a:gd name="adj" fmla="val 2500"/>
            </a:avLst>
          </a:prstGeom>
          <a:solidFill>
            <a:srgbClr val="F2F5F7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" y="172821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9224" y="2258568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3D model fusing GIS + BIM + IoT: design coordination → operations simulation → asset lifecycle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355848" y="1600200"/>
            <a:ext cx="2697480" cy="2011680"/>
          </a:xfrm>
          <a:prstGeom prst="roundRect">
            <a:avLst>
              <a:gd name="adj" fmla="val 2500"/>
            </a:avLst>
          </a:prstGeom>
          <a:solidFill>
            <a:srgbClr val="F2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3502152" y="172821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02152" y="2258568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parcels, utilities, flood modelling, corridor and expansion planning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208776" y="1600200"/>
            <a:ext cx="2697480" cy="2011680"/>
          </a:xfrm>
          <a:prstGeom prst="roundRect">
            <a:avLst>
              <a:gd name="adj" fmla="val 2500"/>
            </a:avLst>
          </a:prstGeom>
          <a:solidFill>
            <a:srgbClr val="F2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72821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55080" y="2258568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2+ mandated across design (CIDB-aligned); CDE from day one; BIM-to-FM handover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9061704" y="1600200"/>
            <a:ext cx="2697480" cy="2011680"/>
          </a:xfrm>
          <a:prstGeom prst="roundRect">
            <a:avLst>
              <a:gd name="adj" fmla="val 2500"/>
            </a:avLst>
          </a:prstGeom>
          <a:solidFill>
            <a:srgbClr val="F2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9208008" y="172821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208008" y="2258568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photogrammetry, volumetrics; then perimeter patrol and stack audits (CAAM permits)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02920" y="3794760"/>
            <a:ext cx="2697480" cy="2011680"/>
          </a:xfrm>
          <a:prstGeom prst="roundRect">
            <a:avLst>
              <a:gd name="adj" fmla="val 2500"/>
            </a:avLst>
          </a:prstGeom>
          <a:solidFill>
            <a:srgbClr val="F2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" y="392277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224" y="4453128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Reefer telemetry, cold rooms, energy submetering, pavement/structure and flood sensors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3355848" y="3794760"/>
            <a:ext cx="2697480" cy="2011680"/>
          </a:xfrm>
          <a:prstGeom prst="roundRect">
            <a:avLst>
              <a:gd name="adj" fmla="val 2500"/>
            </a:avLst>
          </a:prstGeom>
          <a:solidFill>
            <a:srgbClr val="F2F5F7"/>
          </a:solidFill>
          <a:ln/>
        </p:spPr>
      </p:sp>
      <p:sp>
        <p:nvSpPr>
          <p:cNvPr id="24" name="Text 22"/>
          <p:cNvSpPr/>
          <p:nvPr/>
        </p:nvSpPr>
        <p:spPr>
          <a:xfrm>
            <a:off x="3502152" y="392277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CCTV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502152" y="4453128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(PPE, intrusion), security (perimeter), operations (dock occupancy, queue estimation)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208776" y="3794760"/>
            <a:ext cx="2697480" cy="2011680"/>
          </a:xfrm>
          <a:prstGeom prst="roundRect">
            <a:avLst>
              <a:gd name="adj" fmla="val 2500"/>
            </a:avLst>
          </a:prstGeom>
          <a:solidFill>
            <a:srgbClr val="F2F5F7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92277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ANPR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55080" y="4453128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Malaysian + Thai plates at all gates; links truck identity to bookings and customs status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9061704" y="3794760"/>
            <a:ext cx="2697480" cy="2011680"/>
          </a:xfrm>
          <a:prstGeom prst="roundRect">
            <a:avLst>
              <a:gd name="adj" fmla="val 2500"/>
            </a:avLst>
          </a:prstGeom>
          <a:solidFill>
            <a:srgbClr val="F2F5F7"/>
          </a:solidFill>
          <a:ln/>
        </p:spPr>
      </p:sp>
      <p:sp>
        <p:nvSpPr>
          <p:cNvPr id="30" name="Text 28"/>
          <p:cNvSpPr/>
          <p:nvPr/>
        </p:nvSpPr>
        <p:spPr>
          <a:xfrm>
            <a:off x="9208008" y="392277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maintenance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208008" y="4453128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Telematics + EAM condition-based maintenance for equipment, refrigeration, substations</a:t>
            </a:r>
            <a:endParaRPr lang="en-US" sz="88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 · DIGITALISATION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modules (2 of 2): operations, flow and trust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661904" y="274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7" name="Text 5"/>
          <p:cNvSpPr/>
          <p:nvPr/>
        </p:nvSpPr>
        <p:spPr>
          <a:xfrm>
            <a:off x="10661904" y="274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2697480" cy="2011680"/>
          </a:xfrm>
          <a:prstGeom prst="roundRect">
            <a:avLst>
              <a:gd name="adj" fmla="val 2500"/>
            </a:avLst>
          </a:prstGeom>
          <a:solidFill>
            <a:srgbClr val="F2F5F7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" y="172821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Centre (ICC)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9224" y="2258568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control room: CCTV walls, TOS/WMS status, gates, border queue dashboard, incident management; hosts agency liaison desks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355848" y="1600200"/>
            <a:ext cx="2697480" cy="2011680"/>
          </a:xfrm>
          <a:prstGeom prst="roundRect">
            <a:avLst>
              <a:gd name="adj" fmla="val 2500"/>
            </a:avLst>
          </a:prstGeom>
          <a:solidFill>
            <a:srgbClr val="F2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3502152" y="172821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automation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02152" y="2258568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Phased: WMS-directed → RFID/barcode → conveyor/sortation and AMRs in e-commerce zones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208776" y="1600200"/>
            <a:ext cx="2697480" cy="2011680"/>
          </a:xfrm>
          <a:prstGeom prst="roundRect">
            <a:avLst>
              <a:gd name="adj" fmla="val 2500"/>
            </a:avLst>
          </a:prstGeom>
          <a:solidFill>
            <a:srgbClr val="F2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72821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 management (TMS/VBS)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55080" y="2258568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booking, driver app (BM/Thai/EN/CN), e-call-up, release tied to customs status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9061704" y="1600200"/>
            <a:ext cx="2697480" cy="2011680"/>
          </a:xfrm>
          <a:prstGeom prst="roundRect">
            <a:avLst>
              <a:gd name="adj" fmla="val 2500"/>
            </a:avLst>
          </a:prstGeom>
          <a:solidFill>
            <a:srgbClr val="F2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9208008" y="172821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parking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208008" y="2258568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Occupancy sensing for marshalling + staff parking; dynamic signage; paid overnight parking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02920" y="3794760"/>
            <a:ext cx="2697480" cy="2011680"/>
          </a:xfrm>
          <a:prstGeom prst="roundRect">
            <a:avLst>
              <a:gd name="adj" fmla="val 2500"/>
            </a:avLst>
          </a:prstGeom>
          <a:solidFill>
            <a:srgbClr val="F2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" y="392277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analytics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224" y="4453128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length, dwell, lane throughput — shareable with police/JKR/customs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3355848" y="3794760"/>
            <a:ext cx="2697480" cy="2011680"/>
          </a:xfrm>
          <a:prstGeom prst="roundRect">
            <a:avLst>
              <a:gd name="adj" fmla="val 2500"/>
            </a:avLst>
          </a:prstGeom>
          <a:solidFill>
            <a:srgbClr val="F2F5F7"/>
          </a:solidFill>
          <a:ln/>
        </p:spPr>
      </p:sp>
      <p:sp>
        <p:nvSpPr>
          <p:cNvPr id="24" name="Text 22"/>
          <p:cNvSpPr/>
          <p:nvPr/>
        </p:nvSpPr>
        <p:spPr>
          <a:xfrm>
            <a:off x="3502152" y="392277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management (EAM)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502152" y="4453128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55000 register, lifecycle costing — underpins the long-term asset management services role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208776" y="3794760"/>
            <a:ext cx="2697480" cy="2011680"/>
          </a:xfrm>
          <a:prstGeom prst="roundRect">
            <a:avLst>
              <a:gd name="adj" fmla="val 2500"/>
            </a:avLst>
          </a:prstGeom>
          <a:solidFill>
            <a:srgbClr val="F2F5F7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92277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dashboard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55080" y="4453128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Board/agency KPI layer: TEU, dwell, revenue, energy, safety, ESG — investor-grade reporting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9061704" y="3794760"/>
            <a:ext cx="2697480" cy="2011680"/>
          </a:xfrm>
          <a:prstGeom prst="roundRect">
            <a:avLst>
              <a:gd name="adj" fmla="val 2500"/>
            </a:avLst>
          </a:prstGeom>
          <a:solidFill>
            <a:srgbClr val="F2F5F7"/>
          </a:solidFill>
          <a:ln/>
        </p:spPr>
      </p:sp>
      <p:sp>
        <p:nvSpPr>
          <p:cNvPr id="30" name="Text 28"/>
          <p:cNvSpPr/>
          <p:nvPr/>
        </p:nvSpPr>
        <p:spPr>
          <a:xfrm>
            <a:off x="9208008" y="392277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208008" y="4453128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IEC 62443 (OT) + ISO 27001 (IT), segmented customs-facing systems, SOC, Cyber Security Act 2024 compliance, PDPA</a:t>
            </a:r>
            <a:endParaRPr lang="en-US" sz="88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 · DIGITALISATION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Phasing and the digital revenue logic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661904" y="274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7" name="Text 5"/>
          <p:cNvSpPr/>
          <p:nvPr/>
        </p:nvSpPr>
        <p:spPr>
          <a:xfrm>
            <a:off x="10661904" y="274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2576322" cy="1234440"/>
          </a:xfrm>
          <a:prstGeom prst="roundRect">
            <a:avLst>
              <a:gd name="adj" fmla="val 4074"/>
            </a:avLst>
          </a:prstGeom>
          <a:solidFill>
            <a:srgbClr val="F2F5F7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691640"/>
            <a:ext cx="24300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A · with EPC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CDE/BIM, GIS, drone capture, fibre, construction CCTV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11246" y="222656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11" name="Shape 9"/>
          <p:cNvSpPr/>
          <p:nvPr/>
        </p:nvSpPr>
        <p:spPr>
          <a:xfrm>
            <a:off x="3371850" y="1691640"/>
            <a:ext cx="2576322" cy="1234440"/>
          </a:xfrm>
          <a:prstGeom prst="roundRect">
            <a:avLst>
              <a:gd name="adj" fmla="val 4074"/>
            </a:avLst>
          </a:prstGeom>
          <a:solidFill>
            <a:srgbClr val="F2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3445002" y="1691640"/>
            <a:ext cx="24300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B · pre-ops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TOS, WMS, ANPR gates, VBS, ICC, cyber baseline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0176" y="222656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14" name="Shape 12"/>
          <p:cNvSpPr/>
          <p:nvPr/>
        </p:nvSpPr>
        <p:spPr>
          <a:xfrm>
            <a:off x="6240780" y="1691640"/>
            <a:ext cx="2576322" cy="1234440"/>
          </a:xfrm>
          <a:prstGeom prst="roundRect">
            <a:avLst>
              <a:gd name="adj" fmla="val 4074"/>
            </a:avLst>
          </a:prstGeom>
          <a:solidFill>
            <a:srgbClr val="F2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6313932" y="1691640"/>
            <a:ext cx="24300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C · maturity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maintenance, AI analytics, twin simulation, data products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49106" y="222656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17" name="Shape 15"/>
          <p:cNvSpPr/>
          <p:nvPr/>
        </p:nvSpPr>
        <p:spPr>
          <a:xfrm>
            <a:off x="9109710" y="1691640"/>
            <a:ext cx="2576322" cy="1234440"/>
          </a:xfrm>
          <a:prstGeom prst="roundRect">
            <a:avLst>
              <a:gd name="adj" fmla="val 4074"/>
            </a:avLst>
          </a:prstGeom>
          <a:solidFill>
            <a:srgbClr val="F2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9182862" y="1691640"/>
            <a:ext cx="24300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D · expansion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automation, cross-border data corridors (subject to customs cooperation)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2918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as a revenue line (categories only — quantification pending feasibility, Section 10)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749040"/>
            <a:ext cx="2139696" cy="1463040"/>
          </a:xfrm>
          <a:prstGeom prst="roundRect">
            <a:avLst>
              <a:gd name="adj" fmla="val 3438"/>
            </a:avLst>
          </a:prstGeom>
          <a:solidFill>
            <a:srgbClr val="F2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" y="3886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VBS fees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0936" y="43434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per-booking charges on truck slots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2788920" y="3749040"/>
            <a:ext cx="2139696" cy="1463040"/>
          </a:xfrm>
          <a:prstGeom prst="roundRect">
            <a:avLst>
              <a:gd name="adj" fmla="val 3438"/>
            </a:avLst>
          </a:prstGeom>
          <a:solidFill>
            <a:srgbClr val="F2F5F7"/>
          </a:solidFill>
          <a:ln/>
        </p:spPr>
      </p:sp>
      <p:sp>
        <p:nvSpPr>
          <p:cNvPr id="24" name="Text 22"/>
          <p:cNvSpPr/>
          <p:nvPr/>
        </p:nvSpPr>
        <p:spPr>
          <a:xfrm>
            <a:off x="2916936" y="3886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subscriptions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916936" y="43434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border-flow analytics for shippers &amp; forwarders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5074920" y="3749040"/>
            <a:ext cx="2139696" cy="1463040"/>
          </a:xfrm>
          <a:prstGeom prst="roundRect">
            <a:avLst>
              <a:gd name="adj" fmla="val 3438"/>
            </a:avLst>
          </a:prstGeom>
          <a:solidFill>
            <a:srgbClr val="F2F5F7"/>
          </a:solidFill>
          <a:ln/>
        </p:spPr>
      </p:sp>
      <p:sp>
        <p:nvSpPr>
          <p:cNvPr id="27" name="Text 25"/>
          <p:cNvSpPr/>
          <p:nvPr/>
        </p:nvSpPr>
        <p:spPr>
          <a:xfrm>
            <a:off x="5202936" y="3886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services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02936" y="43434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reefer/cold-chain monitoring-as-a-service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7360920" y="3749040"/>
            <a:ext cx="2139696" cy="1463040"/>
          </a:xfrm>
          <a:prstGeom prst="roundRect">
            <a:avLst>
              <a:gd name="adj" fmla="val 3438"/>
            </a:avLst>
          </a:prstGeom>
          <a:solidFill>
            <a:srgbClr val="F2F5F7"/>
          </a:solidFill>
          <a:ln/>
        </p:spPr>
      </p:sp>
      <p:sp>
        <p:nvSpPr>
          <p:cNvPr id="30" name="Text 28"/>
          <p:cNvSpPr/>
          <p:nvPr/>
        </p:nvSpPr>
        <p:spPr>
          <a:xfrm>
            <a:off x="7488936" y="3886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&amp; EDI fees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88936" y="43434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per-transaction charges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9646920" y="3749040"/>
            <a:ext cx="2139696" cy="1463040"/>
          </a:xfrm>
          <a:prstGeom prst="roundRect">
            <a:avLst>
              <a:gd name="adj" fmla="val 3438"/>
            </a:avLst>
          </a:prstGeom>
          <a:solidFill>
            <a:srgbClr val="F2F5F7"/>
          </a:solidFill>
          <a:ln/>
        </p:spPr>
      </p:sp>
      <p:sp>
        <p:nvSpPr>
          <p:cNvPr id="33" name="Text 31"/>
          <p:cNvSpPr/>
          <p:nvPr/>
        </p:nvSpPr>
        <p:spPr>
          <a:xfrm>
            <a:off x="9774936" y="3886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ICC services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774936" y="43434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monitoring/security sold to zone tenants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02920" y="5486400"/>
            <a:ext cx="11183112" cy="777240"/>
          </a:xfrm>
          <a:prstGeom prst="roundRect">
            <a:avLst>
              <a:gd name="adj" fmla="val 6471"/>
            </a:avLst>
          </a:prstGeom>
          <a:solidFill>
            <a:srgbClr val="13293D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54864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Principle: every digital system must either cut border dwell time or create a recurring income line — ideally both.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C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85800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Prospek Cerah Business Model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40690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broker: a developer with capital at risk, contracted deliverables and income that arrives only if the project is built and operates well.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a broker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roles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fit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position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 · PROSPEK CERAH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Prospek Cerah is not a broker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661904" y="274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7" name="Text 5"/>
          <p:cNvSpPr/>
          <p:nvPr/>
        </p:nvSpPr>
        <p:spPr>
          <a:xfrm>
            <a:off x="10661904" y="274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8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311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56967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Broker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Prospek Cerah (proposed)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horizon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 close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lifecycle: development → operations → expansion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Accountability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after introduction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Contracted deliverables: milestones, PMO KPIs, digital SLAs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skin in the game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capital at risk pre-financial-close; proposed SPV equity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creation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definition, structuring, integration, delivery capability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One-off commission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Milestone-earned fees + long-term recurring income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Relationships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Introduces, then exits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Holds and manages stakeholder relationships permanently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economic point for partners: the majority of Prospek's proposed income arrives only if the project is built and operates well.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 · PROSPEK CERAH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roles across the project lifecycle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661904" y="274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7" name="Text 5"/>
          <p:cNvSpPr/>
          <p:nvPr/>
        </p:nvSpPr>
        <p:spPr>
          <a:xfrm>
            <a:off x="10661904" y="274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2697480" cy="1938528"/>
          </a:xfrm>
          <a:prstGeom prst="roundRect">
            <a:avLst>
              <a:gd name="adj" fmla="val 2594"/>
            </a:avLst>
          </a:prstGeom>
          <a:solidFill>
            <a:srgbClr val="F2F5F7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" y="17282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Project Developer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" y="2276856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Originates and defines the project; funds pre-development; carries risk to financial close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355848" y="1600200"/>
            <a:ext cx="2697480" cy="1938528"/>
          </a:xfrm>
          <a:prstGeom prst="roundRect">
            <a:avLst>
              <a:gd name="adj" fmla="val 2594"/>
            </a:avLst>
          </a:prstGeom>
          <a:solidFill>
            <a:srgbClr val="F2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3502152" y="17282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Consortium Builder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02152" y="2276856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Assembles SPV shareholders, EPC, technology, operator, financiers as one integrated package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208776" y="1600200"/>
            <a:ext cx="2697480" cy="1938528"/>
          </a:xfrm>
          <a:prstGeom prst="roundRect">
            <a:avLst>
              <a:gd name="adj" fmla="val 2594"/>
            </a:avLst>
          </a:prstGeom>
          <a:solidFill>
            <a:srgbClr val="F2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7282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Business Development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2276856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the cargo book: shipper pre-commitments, anchor tenants, Thai counterparts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9061704" y="1600200"/>
            <a:ext cx="2697480" cy="1938528"/>
          </a:xfrm>
          <a:prstGeom prst="roundRect">
            <a:avLst>
              <a:gd name="adj" fmla="val 2594"/>
            </a:avLst>
          </a:prstGeom>
          <a:solidFill>
            <a:srgbClr val="F2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9208008" y="17282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PMO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08008" y="2276856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Owner's-side programme management across WP01–WP20: schedule, cost, risk, lender reporting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02920" y="3721608"/>
            <a:ext cx="2697480" cy="1938528"/>
          </a:xfrm>
          <a:prstGeom prst="roundRect">
            <a:avLst>
              <a:gd name="adj" fmla="val 2594"/>
            </a:avLst>
          </a:prstGeom>
          <a:solidFill>
            <a:srgbClr val="F2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" y="384962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Technology Integrator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" y="4398264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Accountable for WP15–WP17 systems working together and with government systems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3355848" y="3721608"/>
            <a:ext cx="2697480" cy="1938528"/>
          </a:xfrm>
          <a:prstGeom prst="roundRect">
            <a:avLst>
              <a:gd name="adj" fmla="val 2594"/>
            </a:avLst>
          </a:prstGeom>
          <a:solidFill>
            <a:srgbClr val="F2F5F7"/>
          </a:solidFill>
          <a:ln/>
        </p:spPr>
      </p:sp>
      <p:sp>
        <p:nvSpPr>
          <p:cNvPr id="24" name="Text 22"/>
          <p:cNvSpPr/>
          <p:nvPr/>
        </p:nvSpPr>
        <p:spPr>
          <a:xfrm>
            <a:off x="3502152" y="384962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Digitalisation Partner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02152" y="4398264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operator of the digital layer under SLA — recurring service income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208776" y="3721608"/>
            <a:ext cx="2697480" cy="1938528"/>
          </a:xfrm>
          <a:prstGeom prst="roundRect">
            <a:avLst>
              <a:gd name="adj" fmla="val 2594"/>
            </a:avLst>
          </a:prstGeom>
          <a:solidFill>
            <a:srgbClr val="F2F5F7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84962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Asset Management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4398264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55000 management of the asset across its life; handback compliance if concession applies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9061704" y="3721608"/>
            <a:ext cx="2697480" cy="1938528"/>
          </a:xfrm>
          <a:prstGeom prst="roundRect">
            <a:avLst>
              <a:gd name="adj" fmla="val 2594"/>
            </a:avLst>
          </a:prstGeom>
          <a:solidFill>
            <a:srgbClr val="F2F5F7"/>
          </a:solidFill>
          <a:ln/>
        </p:spPr>
      </p:sp>
      <p:sp>
        <p:nvSpPr>
          <p:cNvPr id="30" name="Text 28"/>
          <p:cNvSpPr/>
          <p:nvPr/>
        </p:nvSpPr>
        <p:spPr>
          <a:xfrm>
            <a:off x="9208008" y="384962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Strategic Partner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208008" y="4398264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Standing counterpart to owner, state, federal and Shandong for expansion and replication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502920" y="5943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(Yr 0–2): roles 1–3 · Deliver (Yr 2–5): roles 4–5 · Operate (Yr 5+): roles 6–8. Governance: SPV shareholder + contracted PMO + digital/AM services — all related-party contracts disclosed and market-benchmarked.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C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85800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Shandong Hi-Speed Role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40690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SDHS could undertake — structured for negotiation. No commitment by SDHS exists; corporate facts are referenced.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profile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fit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options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postures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8 · SHANDONG HI-SPEED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profile: scale, rail logistics and live Malaysia activity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838944" y="274320"/>
            <a:ext cx="1847088" cy="274320"/>
          </a:xfrm>
          <a:prstGeom prst="roundRect">
            <a:avLst>
              <a:gd name="adj" fmla="val 50000"/>
            </a:avLst>
          </a:prstGeom>
          <a:solidFill>
            <a:srgbClr val="2F7D5B"/>
          </a:solidFill>
          <a:ln/>
        </p:spPr>
      </p:sp>
      <p:sp>
        <p:nvSpPr>
          <p:cNvPr id="7" name="Text 5"/>
          <p:cNvSpPr/>
          <p:nvPr/>
        </p:nvSpPr>
        <p:spPr>
          <a:xfrm>
            <a:off x="9838944" y="27432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PUBLICLY VERIFIED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2697480" cy="1554480"/>
          </a:xfrm>
          <a:prstGeom prst="roundRect">
            <a:avLst>
              <a:gd name="adj" fmla="val 3235"/>
            </a:avLst>
          </a:prstGeom>
          <a:solidFill>
            <a:srgbClr val="F2F5F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37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&gt;9,000 km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221284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expressways operated — provincial SOE, HQ Jinan [R66, R68]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55848" y="1600200"/>
            <a:ext cx="2697480" cy="1554480"/>
          </a:xfrm>
          <a:prstGeom prst="roundRect">
            <a:avLst>
              <a:gd name="adj" fmla="val 3235"/>
            </a:avLst>
          </a:prstGeom>
          <a:solidFill>
            <a:srgbClr val="F2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3493008" y="1737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 1.76tn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08" y="221284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total assets; Fortune Global 500 #401 (company-published — cross-check in DD) [R67]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08776" y="1600200"/>
            <a:ext cx="2697480" cy="1554480"/>
          </a:xfrm>
          <a:prstGeom prst="roundRect">
            <a:avLst>
              <a:gd name="adj" fmla="val 3235"/>
            </a:avLst>
          </a:prstGeom>
          <a:solidFill>
            <a:srgbClr val="F2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6345936" y="1737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Qilu Express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45936" y="221284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China–Europe freight brand; 2,500 Shandong-handled trips in 2023 [R69]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61704" y="1600200"/>
            <a:ext cx="2697480" cy="1554480"/>
          </a:xfrm>
          <a:prstGeom prst="roundRect">
            <a:avLst>
              <a:gd name="adj" fmla="val 3235"/>
            </a:avLst>
          </a:prstGeom>
          <a:solidFill>
            <a:srgbClr val="F2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9198864" y="1737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 ~70bn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98864" y="221284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of listed EPC arm Shandong Hi-Speed Road &amp; Bridge (000498.SZ) [R70]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429000"/>
            <a:ext cx="11155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b="1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Malaysia: framework agreement with Bursa-listed PTT Synergy (23 Sep 2025) for smart/automated warehousing — reported ~RM2bn (Malaysian media) vs RM6bn/2M pallet positions (Chinese trade press); discrepancy disclosed. [R72, R73]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Shandong International (CSI), wholly-owned since 2008, has a Malaysian-registered entity. [R71]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Ratings: Moody's first-time A3 (2018; current parent rating not publicly confirmable); Fitch A－/Stable on HK-listed Shandong Hi-Speed Holdings. [R74]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published SDHS commitment to Perlis or Padang Besar exists — the role described in this section is proposal-stage only.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8 · SHANDONG HI-SPEED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SDHS could undertake — and three commercial postures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661904" y="274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7" name="Text 5"/>
          <p:cNvSpPr/>
          <p:nvPr/>
        </p:nvSpPr>
        <p:spPr>
          <a:xfrm>
            <a:off x="10661904" y="274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85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831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949440"/>
                <a:gridCol w="1856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Potential SDHS scope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Civil &amp; infrastructure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Earthworks, roads, pavements, rail sidings &amp; systems (with KTMB approval), utilities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WP02–07, 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Warehousing &amp; buildings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Ambient/bonded/cold warehouses; customs, admin, commercial buildings; workshops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WP08–09, 11–13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&amp; ICT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Site-wide digital infrastructure delivery; fibre, data centre — under Prospek integration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WP15–17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 &amp; maintenance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Terminal O&amp;M participation via logistics arms; long-term infrastructure maintenance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Ops phase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Future expansion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EPC for Phase 2+; potential co-investment in expansion capex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4572000"/>
            <a:ext cx="3611880" cy="1234440"/>
          </a:xfrm>
          <a:prstGeom prst="roundRect">
            <a:avLst>
              <a:gd name="adj" fmla="val 4074"/>
            </a:avLst>
          </a:prstGeom>
          <a:solidFill>
            <a:srgbClr val="F2F5F7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4681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Posture 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85800" y="4974336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 contractor only — date-certain, price-certain wrap; simplest entry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325112" y="4572000"/>
            <a:ext cx="3611880" cy="1234440"/>
          </a:xfrm>
          <a:prstGeom prst="roundRect">
            <a:avLst>
              <a:gd name="adj" fmla="val 4074"/>
            </a:avLst>
          </a:prstGeom>
          <a:solidFill>
            <a:srgbClr val="13293D"/>
          </a:solidFill>
          <a:ln/>
        </p:spPr>
      </p:sp>
      <p:sp>
        <p:nvSpPr>
          <p:cNvPr id="13" name="Text 10"/>
          <p:cNvSpPr/>
          <p:nvPr/>
        </p:nvSpPr>
        <p:spPr>
          <a:xfrm>
            <a:off x="4507992" y="4681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Posture 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07992" y="4974336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 + SPV equity — aligns delivery and ownership; needs related-party safeguards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147304" y="4572000"/>
            <a:ext cx="3611880" cy="1234440"/>
          </a:xfrm>
          <a:prstGeom prst="roundRect">
            <a:avLst>
              <a:gd name="adj" fmla="val 4074"/>
            </a:avLst>
          </a:prstGeom>
          <a:solidFill>
            <a:srgbClr val="F2F5F7"/>
          </a:solidFill>
          <a:ln/>
        </p:spPr>
      </p:sp>
      <p:sp>
        <p:nvSpPr>
          <p:cNvPr id="16" name="Text 13"/>
          <p:cNvSpPr/>
          <p:nvPr/>
        </p:nvSpPr>
        <p:spPr>
          <a:xfrm>
            <a:off x="8330184" y="4681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Posture 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330184" y="4974336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 + equity + O&amp;M — deepest integration; shares operating risk and upside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SDHS internal-approval needs: verified land/rights, bankable feasibility, tenure clarity, governance framework, CIDB licensing and Chinese outbound approvals (NDRC/MOFCOM/SAFE).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C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85800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Model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40690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universe, revenue streams, capital and equity structure, PPP options, risk allocation, funding stages and exits — structures only, no invented numbers.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universe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&amp; PPP structure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allocation &amp; exits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9 · INVESTMENT MODEL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investor universe — and what each needs to see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661904" y="274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7" name="Text 5"/>
          <p:cNvSpPr/>
          <p:nvPr/>
        </p:nvSpPr>
        <p:spPr>
          <a:xfrm>
            <a:off x="10661904" y="274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85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8311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4165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Investor category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Examples of type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they need to see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Strategic — construction/infra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Shandong Hi-Speed Group and peers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EPC pipeline + equity upside; government endorsement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Strategic — logistics operators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Terminal operators, rail logistics groups, 3PLs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control or strong agreements; cargo commitments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Logistics real estate platforms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Regional industrial developers &amp; funds (e.g., LOGOS-type JVs) [R81]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Leasable product, tenant covenants, yield profile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— infrastructure funds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ASEAN/Asia infra and PE funds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Contracted revenue share, credible exit, governance rights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Malaysian institutions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GLIC/pension-type investors (mandate-dependent)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National-interest alignment, stable yield, local partner quality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DFIs / policy lenders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IFC, AIIB, ECAs, policy banks — Thanaleng precedent [R75, R76]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ESG compliance, trade-facilitation impact, sovereign context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State/federal vehicles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economic corporations, facilitation funds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Jobs, state revenue, border modernisation outcomes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9 · INVESTMENT MODEL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architecture: six stream families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661904" y="274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7" name="Text 5"/>
          <p:cNvSpPr/>
          <p:nvPr/>
        </p:nvSpPr>
        <p:spPr>
          <a:xfrm>
            <a:off x="10661904" y="274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3611880" cy="1874520"/>
          </a:xfrm>
          <a:prstGeom prst="roundRect">
            <a:avLst>
              <a:gd name="adj" fmla="val 2683"/>
            </a:avLst>
          </a:prstGeom>
          <a:solidFill>
            <a:srgbClr val="F2F5F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7647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TERMINAL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167128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 handling · container lift/storage · transshipment · reefer plugs · empty depot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25112" y="1600200"/>
            <a:ext cx="3611880" cy="1874520"/>
          </a:xfrm>
          <a:prstGeom prst="roundRect">
            <a:avLst>
              <a:gd name="adj" fmla="val 2683"/>
            </a:avLst>
          </a:prstGeom>
          <a:solidFill>
            <a:srgbClr val="F2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4507992" y="17647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07992" y="2167128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Ambient/bonded/cold leasing · VAS (kitting, labelling) · e-fulfilment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47304" y="1600200"/>
            <a:ext cx="3611880" cy="1874520"/>
          </a:xfrm>
          <a:prstGeom prst="roundRect">
            <a:avLst>
              <a:gd name="adj" fmla="val 2683"/>
            </a:avLst>
          </a:prstGeom>
          <a:solidFill>
            <a:srgbClr val="F2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8330184" y="17647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 SERVICES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30184" y="2167128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 marshalling/slot fees · weighbridge · inspection support · paid parking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703320"/>
            <a:ext cx="3611880" cy="1874520"/>
          </a:xfrm>
          <a:prstGeom prst="roundRect">
            <a:avLst>
              <a:gd name="adj" fmla="val 2683"/>
            </a:avLst>
          </a:prstGeom>
          <a:solidFill>
            <a:srgbClr val="F2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8679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270248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Office/retail rents · fuel &amp; service concessions · advertising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25112" y="3703320"/>
            <a:ext cx="3611880" cy="1874520"/>
          </a:xfrm>
          <a:prstGeom prst="roundRect">
            <a:avLst>
              <a:gd name="adj" fmla="val 2683"/>
            </a:avLst>
          </a:prstGeom>
          <a:solidFill>
            <a:srgbClr val="F2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4507992" y="38679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07992" y="4270248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VBS fees · data products · reefer monitoring · portal transaction fees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3703320"/>
            <a:ext cx="3611880" cy="1874520"/>
          </a:xfrm>
          <a:prstGeom prst="roundRect">
            <a:avLst>
              <a:gd name="adj" fmla="val 2683"/>
            </a:avLst>
          </a:prstGeom>
          <a:solidFill>
            <a:srgbClr val="F2F5F7"/>
          </a:solidFill>
          <a:ln/>
        </p:spPr>
      </p:sp>
      <p:sp>
        <p:nvSpPr>
          <p:cNvPr id="24" name="Text 22"/>
          <p:cNvSpPr/>
          <p:nvPr/>
        </p:nvSpPr>
        <p:spPr>
          <a:xfrm>
            <a:off x="8330184" y="38679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&amp; MGMT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30184" y="4270248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fees · asset management fees · expansion development fees (accrue to service providers, not SPV)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stream is quantified in this package: each enters the lender base case only with an identified contractual or statistical basis (Section 10).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9 · INVESTMENT MODEL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structure logic and PPP model options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661904" y="274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7" name="Text 5"/>
          <p:cNvSpPr/>
          <p:nvPr/>
        </p:nvSpPr>
        <p:spPr>
          <a:xfrm>
            <a:off x="10661904" y="274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STACK (logic, no figures)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5120640" cy="896112"/>
          </a:xfrm>
          <a:prstGeom prst="roundRect">
            <a:avLst>
              <a:gd name="adj" fmla="val 5612"/>
            </a:avLst>
          </a:prstGeom>
          <a:solidFill>
            <a:srgbClr val="13293D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20240"/>
            <a:ext cx="1417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debt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1975104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finance sized on contracted revenue — BPMB precedent at PIP; AIIB–Malaysian bank platforms; ECA cover; sukuk-capable [R25, R80]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502920" y="2944368"/>
            <a:ext cx="5120640" cy="896112"/>
          </a:xfrm>
          <a:prstGeom prst="roundRect">
            <a:avLst>
              <a:gd name="adj" fmla="val 5612"/>
            </a:avLst>
          </a:prstGeom>
          <a:solidFill>
            <a:srgbClr val="335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944368"/>
            <a:ext cx="1417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Mezzanine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2999232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gap layer from strategic sponsors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502920" y="3968496"/>
            <a:ext cx="5120640" cy="896112"/>
          </a:xfrm>
          <a:prstGeom prst="roundRect">
            <a:avLst>
              <a:gd name="adj" fmla="val 5612"/>
            </a:avLst>
          </a:prstGeom>
          <a:solidFill>
            <a:srgbClr val="3A6EA5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968496"/>
            <a:ext cx="1417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equity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4023360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Consortium equity, staged against milestones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502920" y="4992624"/>
            <a:ext cx="5120640" cy="896112"/>
          </a:xfrm>
          <a:prstGeom prst="roundRect">
            <a:avLst>
              <a:gd name="adj" fmla="val 5612"/>
            </a:avLst>
          </a:prstGeom>
          <a:solidFill>
            <a:srgbClr val="B26A0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992624"/>
            <a:ext cx="1417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Govt support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5047488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explored, never assumed: tenure, incentives (MIDA/zone), facilitation funding [G]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6035040" y="15544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 MODEL OPTIONS (depends entirely on true land position)</a:t>
            </a:r>
            <a:endParaRPr lang="en-US" sz="11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920240"/>
          <a:ext cx="565099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182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it fits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land, build-own-operate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 privately held; licensed private facility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land lease + BOT/BOO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land; requires state agreement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Concession incl. agency facilities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 wants integrated border facilities (WP11)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Hybrid landlord model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SPV as landlord; specialist operators as tenants — reduces operating risk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035040" y="50749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PIKAS 2030 preference: competitive RFP and user-pays projects — engagement route via UKAS if any government facility/concession element applies. [R61]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9 · INVESTMENT MODEL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allocation, funding stages and exit options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661904" y="274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7" name="Text 5"/>
          <p:cNvSpPr/>
          <p:nvPr/>
        </p:nvSpPr>
        <p:spPr>
          <a:xfrm>
            <a:off x="10661904" y="274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85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36192"/>
          <a:ext cx="6766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Allocated to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Construction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EPC contractor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Fixed-price date-certain wrap, LDs, performance security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Cargo / market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Anchor pre-commitments + sponsor equity buffer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performance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KPI-linked O&amp;M contract with step-in rights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Border policy / customs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transferable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 engagement; diversified revenue mix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 / approvals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phase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Precondition to financial close — never carried by lenders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4709160"/>
            <a:ext cx="2002536" cy="100584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/>
        </p:spPr>
      </p:sp>
      <p:sp>
        <p:nvSpPr>
          <p:cNvPr id="10" name="Text 7"/>
          <p:cNvSpPr/>
          <p:nvPr/>
        </p:nvSpPr>
        <p:spPr>
          <a:xfrm>
            <a:off x="576072" y="4709160"/>
            <a:ext cx="1856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Development capital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sponsors, highest risk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37460" y="512978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12" name="Shape 9"/>
          <p:cNvSpPr/>
          <p:nvPr/>
        </p:nvSpPr>
        <p:spPr>
          <a:xfrm>
            <a:off x="2798064" y="4709160"/>
            <a:ext cx="2002536" cy="100584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/>
        </p:spPr>
      </p:sp>
      <p:sp>
        <p:nvSpPr>
          <p:cNvPr id="13" name="Text 10"/>
          <p:cNvSpPr/>
          <p:nvPr/>
        </p:nvSpPr>
        <p:spPr>
          <a:xfrm>
            <a:off x="2871216" y="4709160"/>
            <a:ext cx="1856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Financial close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+ debt committed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832604" y="512978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15" name="Shape 12"/>
          <p:cNvSpPr/>
          <p:nvPr/>
        </p:nvSpPr>
        <p:spPr>
          <a:xfrm>
            <a:off x="5093208" y="4709160"/>
            <a:ext cx="2002536" cy="100584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/>
        </p:spPr>
      </p:sp>
      <p:sp>
        <p:nvSpPr>
          <p:cNvPr id="16" name="Text 13"/>
          <p:cNvSpPr/>
          <p:nvPr/>
        </p:nvSpPr>
        <p:spPr>
          <a:xfrm>
            <a:off x="5166360" y="4709160"/>
            <a:ext cx="1856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Construction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drawdowns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127748" y="512978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18" name="Shape 15"/>
          <p:cNvSpPr/>
          <p:nvPr/>
        </p:nvSpPr>
        <p:spPr>
          <a:xfrm>
            <a:off x="7388352" y="4709160"/>
            <a:ext cx="2002536" cy="100584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/>
        </p:spPr>
      </p:sp>
      <p:sp>
        <p:nvSpPr>
          <p:cNvPr id="19" name="Text 16"/>
          <p:cNvSpPr/>
          <p:nvPr/>
        </p:nvSpPr>
        <p:spPr>
          <a:xfrm>
            <a:off x="7461504" y="4709160"/>
            <a:ext cx="1856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Operations ramp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capital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9422892" y="512978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21" name="Shape 18"/>
          <p:cNvSpPr/>
          <p:nvPr/>
        </p:nvSpPr>
        <p:spPr>
          <a:xfrm>
            <a:off x="9683496" y="4709160"/>
            <a:ext cx="2002536" cy="100584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/>
        </p:spPr>
      </p:sp>
      <p:sp>
        <p:nvSpPr>
          <p:cNvPr id="22" name="Text 19"/>
          <p:cNvSpPr/>
          <p:nvPr/>
        </p:nvSpPr>
        <p:spPr>
          <a:xfrm>
            <a:off x="9756648" y="4709160"/>
            <a:ext cx="1856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Expansion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 cash / new partners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635240" y="1536192"/>
            <a:ext cx="4050792" cy="2834640"/>
          </a:xfrm>
          <a:prstGeom prst="roundRect">
            <a:avLst>
              <a:gd name="adj" fmla="val 1774"/>
            </a:avLst>
          </a:prstGeom>
          <a:solidFill>
            <a:srgbClr val="F2F5F7"/>
          </a:solidFill>
          <a:ln/>
        </p:spPr>
      </p:sp>
      <p:sp>
        <p:nvSpPr>
          <p:cNvPr id="24" name="Text 21"/>
          <p:cNvSpPr/>
          <p:nvPr/>
        </p:nvSpPr>
        <p:spPr>
          <a:xfrm>
            <a:off x="78638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OPTIONS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86384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sale to strategic operator or logistics RE platform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fund sale once cash flows season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REIT injection of stabilised warehouse assets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IPO of the platform company at scale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Refinancing for partial sponsor liquidity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C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85800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Model Framework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40690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no invented numbers. The model structure and every assumption class that must be evidenced before a single figure is entered.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Modelling principles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categories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categories &amp; sensitivities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per audience</a:t>
            </a:r>
            <a:endParaRPr lang="en-US" sz="11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10 · FINANCIAL FRAMEWORK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Modelling principles and revenue categories (no figures)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661904" y="274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7" name="Text 5"/>
          <p:cNvSpPr/>
          <p:nvPr/>
        </p:nvSpPr>
        <p:spPr>
          <a:xfrm>
            <a:off x="10661904" y="274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11183112" cy="960120"/>
          </a:xfrm>
          <a:prstGeom prst="roundRect">
            <a:avLst>
              <a:gd name="adj" fmla="val 5238"/>
            </a:avLst>
          </a:prstGeom>
          <a:solidFill>
            <a:srgbClr val="13293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input traces to evidence · three cases minimum (base/downside/upside) · MYR model with THB/USD/CNY sensitivity · no revenue in the lender case without a contractual or statistical basis</a:t>
            </a:r>
            <a:endParaRPr lang="en-US" sz="115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743200"/>
          <a:ext cx="1118311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8714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Potential lines (to be quantified only after evidence)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Terminal &amp; rail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Rail handling per TEU · storage &amp; empty depot · reefer plugs · wagon/shunting services (KTMB commercial terms pending)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Warehousing &amp; property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Ambient rents · bonded premiums · cold chamber/pallet/blast-freeze · built-to-suit returns · sub-lease income (tenure permitting)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Border &amp; vehicle services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Marshalling slots · secure parking · weighbridge · driver amenities &amp; concessions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income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Handling labour, VAS · customs brokerage facilitation (licensing pending) · equipment rental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Recurring income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Multi-year leases &amp; anchor tenancies · third-party O&amp;M · utility resale margins (regulatory check required)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/ PMO / AM / concession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VBS &amp; data subscriptions · portal fees · PMO &amp; development fees · asset management fees · concession/availability income if structure eventuates (pending)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10 · FINANCIAL FRAMEWORK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classes, sensitivities and outputs per audience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661904" y="274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7" name="Text 5"/>
          <p:cNvSpPr/>
          <p:nvPr/>
        </p:nvSpPr>
        <p:spPr>
          <a:xfrm>
            <a:off x="10661904" y="274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CLASSES (priced, not guessed)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901952"/>
            <a:ext cx="5394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 capex per WP — from contractor pricing, not benchmarks alone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cost/lease — from confirmed tenure terms (pending)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capex and renewal cycles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(largest cold-chain driver), labour, maintenance, insurance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opex: licences, SOC, connectivity, refresh cycles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Concession fees/royalties if applicable (pending)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SENSITIVITIES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484632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growth vs verified baselines · ramp-up length · anchor pre-commitment share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 rail interchange capture (KTMB–SRT service patterns) · energy tariffs · MYR/THB</a:t>
            </a:r>
            <a:endParaRPr lang="en-US" sz="125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901952"/>
          <a:ext cx="54223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8679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Audience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outputs required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DSCR profile, gearing, tenor/tail, security coverage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Investors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Equity IRR, payback, dividend profile, exit valuation logic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Jobs, state revenue, trade-facilitation KPIs, fiscal cost of support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Funding plan, milestone cash needs, downside survivability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C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85800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Diligence Checklist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40690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 workstreams. Every item answered with documents, not statements — the evidence set for investment committees and bank credit processes.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· Land · Project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· Technical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· Legal · Commercial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 · Operational · Digital</a:t>
            </a:r>
            <a:endParaRPr lang="en-US" sz="11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11 · DUE DILIGENCE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Workstreams A–E: the existential checks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113264" y="274320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33566E"/>
          </a:solidFill>
          <a:ln/>
        </p:spPr>
      </p:sp>
      <p:sp>
        <p:nvSpPr>
          <p:cNvPr id="7" name="Text 5"/>
          <p:cNvSpPr/>
          <p:nvPr/>
        </p:nvSpPr>
        <p:spPr>
          <a:xfrm>
            <a:off x="10113264" y="2743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85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36192"/>
          <a:ext cx="1118311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3543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Workstream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items (abridged — full checklist in package document)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· Corporate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SSM extracts, UBOs, board authorisations, audited accounts, charges &amp; litigation searches, all existing MOUs/agreements with status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· Land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Titles per parcel (owner, category, conditions) · state/reserve/Malay Reserve status · encumbrances &amp; caveats · zoning · KTMB/Railway Assets Corporation land involvement · flood history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· Project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studies &amp; master plans · what exists today vs aspiration · prior tenders/liabilities · utilities availability · interface with PIP and legacy terminal operators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· Government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Written state support · federal engagement status (MOT, MITI, JKDM, UKAS) · NCIA status · KTMB engagement · issued gazettes/licences · Thai-side engagement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 · Technical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Geotech adequacy · rail connection feasibility (gradient, possessions) · road capacity · utility loads (cold-chain power) · flood modelling · EIA screening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B (Land) is the gating item: nothing proceeds without title verification.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11 · DUE DILIGENCE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Workstreams F–K: bankability and operability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113264" y="274320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33566E"/>
          </a:solidFill>
          <a:ln/>
        </p:spPr>
      </p:sp>
      <p:sp>
        <p:nvSpPr>
          <p:cNvPr id="7" name="Text 5"/>
          <p:cNvSpPr/>
          <p:nvPr/>
        </p:nvSpPr>
        <p:spPr>
          <a:xfrm>
            <a:off x="10113264" y="2743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85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36192"/>
          <a:ext cx="1118311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90799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Workstream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items (abridged)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 · Financial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 funding capacity · existing financing/liens · tax structure &amp; incentive eligibility · basis of any previously circulated figures (validate or discard)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 · Legal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Rights held vs rights claimed (evidence per item) · foreign investment limits · licensing map (bonded, forwarding, CIDB, CAAM) · sanctions screening of all counterparties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 · Commercial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Verified cargo baseline (KTMB/Customs data requests) · named anchor prospects &amp; commitment status · competing facilities pipeline · tariff benchmarks · demand interviews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· Environmental &amp; Social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EIA determination · site occupants/displacement · heritage · IFC Performance Standards / Equator alignment · climate resilience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 · Operational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model &amp; candidate operators · labour availability in Perlis · border hours as throughput cap · bonded security requirements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 · Digital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systems · fibre/carrier availability · JKDM interface constraints · PDPA &amp; Cyber Security Act 2024 obligations · vendor landscape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C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85800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for the Project Owner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40690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Collaborative, professional questions that help the owner assemble what investors, Shandong, technology partners and banks will ask for anyway.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&amp; land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&amp; commercial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&amp; finances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&amp; process</a:t>
            </a:r>
            <a:endParaRPr lang="en-US" sz="11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12 · OWNER QUESTIONS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Twenty-six questions in seven groups (selection)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113264" y="274320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33566E"/>
          </a:solidFill>
          <a:ln/>
        </p:spPr>
      </p:sp>
      <p:sp>
        <p:nvSpPr>
          <p:cNvPr id="7" name="Text 5"/>
          <p:cNvSpPr/>
          <p:nvPr/>
        </p:nvSpPr>
        <p:spPr>
          <a:xfrm>
            <a:off x="10113264" y="2743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5486400" cy="1024128"/>
          </a:xfrm>
          <a:prstGeom prst="roundRect">
            <a:avLst>
              <a:gd name="adj" fmla="val 4911"/>
            </a:avLst>
          </a:prstGeom>
          <a:solidFill>
            <a:srgbClr val="F2F5F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4592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188366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did the project originate and what exists today? What does success look like in 5 and 15 years?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190488" y="1554480"/>
            <a:ext cx="5486400" cy="1024128"/>
          </a:xfrm>
          <a:prstGeom prst="roundRect">
            <a:avLst>
              <a:gd name="adj" fmla="val 4911"/>
            </a:avLst>
          </a:prstGeom>
          <a:solidFill>
            <a:srgbClr val="F2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64592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&amp; RIGHTS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73368" y="188366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parcels, what tenure, any existing agreements? Does any element rely on railway reserve or KTMB land?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502920" y="2724912"/>
            <a:ext cx="5486400" cy="1024128"/>
          </a:xfrm>
          <a:prstGeom prst="roundRect">
            <a:avLst>
              <a:gd name="adj" fmla="val 4911"/>
            </a:avLst>
          </a:prstGeom>
          <a:solidFill>
            <a:srgbClr val="F2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81635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305409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has been engaged, and is there anything in writing? Any JKDM discussions on bonded/zone status? KTMB response on sidings?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190488" y="2724912"/>
            <a:ext cx="5486400" cy="1024128"/>
          </a:xfrm>
          <a:prstGeom prst="roundRect">
            <a:avLst>
              <a:gd name="adj" fmla="val 4911"/>
            </a:avLst>
          </a:prstGeom>
          <a:solidFill>
            <a:srgbClr val="F2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281635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73368" y="305409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cargo flows anchor demand, and on what evidence? How is the platform positioned vs Perlis Inland Port — integration, complement, or competition?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502920" y="3895344"/>
            <a:ext cx="5486400" cy="1024128"/>
          </a:xfrm>
          <a:prstGeom prst="roundRect">
            <a:avLst>
              <a:gd name="adj" fmla="val 4911"/>
            </a:avLst>
          </a:prstGeom>
          <a:solidFill>
            <a:srgbClr val="F2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98678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422452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role does the owner wish to retain? What are expectations on ownership and control? Any commitments a consortium must respect?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190488" y="3895344"/>
            <a:ext cx="5486400" cy="1024128"/>
          </a:xfrm>
          <a:prstGeom prst="roundRect">
            <a:avLst>
              <a:gd name="adj" fmla="val 4911"/>
            </a:avLst>
          </a:prstGeom>
          <a:solidFill>
            <a:srgbClr val="F2F5F7"/>
          </a:solidFill>
          <a:ln/>
        </p:spPr>
      </p:sp>
      <p:sp>
        <p:nvSpPr>
          <p:cNvPr id="24" name="Text 22"/>
          <p:cNvSpPr/>
          <p:nvPr/>
        </p:nvSpPr>
        <p:spPr>
          <a:xfrm>
            <a:off x="6373368" y="398678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73368" y="422452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has been invested to date and by whom? Expected owner/partner/bank funding split? Any liabilities attached to land or project?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502920" y="5065776"/>
            <a:ext cx="5486400" cy="1024128"/>
          </a:xfrm>
          <a:prstGeom prst="roundRect">
            <a:avLst>
              <a:gd name="adj" fmla="val 4911"/>
            </a:avLst>
          </a:prstGeom>
          <a:solidFill>
            <a:srgbClr val="F2F5F7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515721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" y="539496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timeline and external deadlines apply? Openness to structured DD under NDA with a data room? Who is authorised to negotiate?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Tone: these questions accelerate the owner's own fundraising — they are the same list any serious counterpart will bring.</a:t>
            </a:r>
            <a:endParaRPr lang="en-US" sz="10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C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85800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Consortium Structure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40690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single-purpose Malaysian SPV with clean contracts around it — designed to satisfy the ≥51% Malaysian ownership floor and lender governance standards.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SPV structure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&amp; candidates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Agreements map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principles</a:t>
            </a:r>
            <a:endParaRPr lang="en-US" sz="11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13 · CONSORTIUM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SPV structure (percentages deliberately unstated)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661904" y="274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7" name="Text 5"/>
          <p:cNvSpPr/>
          <p:nvPr/>
        </p:nvSpPr>
        <p:spPr>
          <a:xfrm>
            <a:off x="10661904" y="274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023360" y="1463040"/>
            <a:ext cx="4114800" cy="777240"/>
          </a:xfrm>
          <a:prstGeom prst="roundRect">
            <a:avLst>
              <a:gd name="adj" fmla="val 6471"/>
            </a:avLst>
          </a:prstGeom>
          <a:solidFill>
            <a:srgbClr val="B26A00"/>
          </a:solidFill>
          <a:ln/>
        </p:spPr>
      </p:sp>
      <p:sp>
        <p:nvSpPr>
          <p:cNvPr id="9" name="Text 7"/>
          <p:cNvSpPr/>
          <p:nvPr/>
        </p:nvSpPr>
        <p:spPr>
          <a:xfrm>
            <a:off x="4069080" y="14630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(State / Federal)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 · approvals · incentives · possible state equity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23360" y="2743200"/>
            <a:ext cx="4114800" cy="1051560"/>
          </a:xfrm>
          <a:prstGeom prst="roundRect">
            <a:avLst>
              <a:gd name="adj" fmla="val 4783"/>
            </a:avLst>
          </a:prstGeom>
          <a:solidFill>
            <a:srgbClr val="1329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274320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SPV (Malaysia)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single-purpose company · owns &amp; finances the platform · ≥51% Malaysian [R62]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2240280"/>
            <a:ext cx="0" cy="502920"/>
          </a:xfrm>
          <a:prstGeom prst="line">
            <a:avLst/>
          </a:prstGeom>
          <a:noFill/>
          <a:ln w="19050">
            <a:solidFill>
              <a:srgbClr val="5D6E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606040"/>
            <a:ext cx="3017520" cy="1325880"/>
          </a:xfrm>
          <a:prstGeom prst="roundRect">
            <a:avLst>
              <a:gd name="adj" fmla="val 3793"/>
            </a:avLst>
          </a:prstGeom>
          <a:solidFill>
            <a:srgbClr val="F2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9748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EQUITY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Prospek Cerah · Shandong Hi-Speed (optional) · local partner(s) · project owner (land) · financial investors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20440" y="3246120"/>
            <a:ext cx="502920" cy="0"/>
          </a:xfrm>
          <a:prstGeom prst="line">
            <a:avLst/>
          </a:prstGeom>
          <a:noFill/>
          <a:ln w="19050">
            <a:solidFill>
              <a:srgbClr val="5D6E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41080" y="2606040"/>
            <a:ext cx="3017520" cy="1325880"/>
          </a:xfrm>
          <a:prstGeom prst="roundRect">
            <a:avLst>
              <a:gd name="adj" fmla="val 3793"/>
            </a:avLst>
          </a:prstGeom>
          <a:solidFill>
            <a:srgbClr val="F2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8823960" y="269748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Malaysian/regional banks · BPMB · ECAs · DFIs (IFC/AIIB precedent at Thanaleng) — security over SPV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38160" y="3246120"/>
            <a:ext cx="502920" cy="0"/>
          </a:xfrm>
          <a:prstGeom prst="line">
            <a:avLst/>
          </a:prstGeom>
          <a:noFill/>
          <a:ln w="19050">
            <a:solidFill>
              <a:srgbClr val="5D6E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572000"/>
            <a:ext cx="2697480" cy="100584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" y="45720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 Contract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SDHS-led + mandatory local participation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47088" y="3794760"/>
            <a:ext cx="0" cy="777240"/>
          </a:xfrm>
          <a:prstGeom prst="line">
            <a:avLst/>
          </a:prstGeom>
          <a:noFill/>
          <a:ln w="12700">
            <a:solidFill>
              <a:srgbClr val="5D6E7C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355848" y="4572000"/>
            <a:ext cx="2697480" cy="100584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/>
        </p:spPr>
      </p:sp>
      <p:sp>
        <p:nvSpPr>
          <p:cNvPr id="23" name="Text 21"/>
          <p:cNvSpPr/>
          <p:nvPr/>
        </p:nvSpPr>
        <p:spPr>
          <a:xfrm>
            <a:off x="3465576" y="45720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Prospek-integrated vendor consortium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0016" y="3794760"/>
            <a:ext cx="0" cy="777240"/>
          </a:xfrm>
          <a:prstGeom prst="line">
            <a:avLst/>
          </a:prstGeom>
          <a:noFill/>
          <a:ln w="12700">
            <a:solidFill>
              <a:srgbClr val="5D6E7C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208776" y="4572000"/>
            <a:ext cx="2697480" cy="100584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/>
        </p:spPr>
      </p:sp>
      <p:sp>
        <p:nvSpPr>
          <p:cNvPr id="26" name="Text 24"/>
          <p:cNvSpPr/>
          <p:nvPr/>
        </p:nvSpPr>
        <p:spPr>
          <a:xfrm>
            <a:off x="6318504" y="45720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Operator(s)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&amp; warehouse O&amp;M, KPI-linked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552944" y="3794760"/>
            <a:ext cx="0" cy="777240"/>
          </a:xfrm>
          <a:prstGeom prst="line">
            <a:avLst/>
          </a:prstGeom>
          <a:noFill/>
          <a:ln w="12700">
            <a:solidFill>
              <a:srgbClr val="5D6E7C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9061704" y="4572000"/>
            <a:ext cx="2697480" cy="100584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/>
        </p:spPr>
      </p:sp>
      <p:sp>
        <p:nvSpPr>
          <p:cNvPr id="29" name="Text 27"/>
          <p:cNvSpPr/>
          <p:nvPr/>
        </p:nvSpPr>
        <p:spPr>
          <a:xfrm>
            <a:off x="9171432" y="45720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/ Dev Mgmt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Prospek, with lender's engineer oversight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405872" y="3794760"/>
            <a:ext cx="0" cy="777240"/>
          </a:xfrm>
          <a:prstGeom prst="line">
            <a:avLst/>
          </a:prstGeom>
          <a:noFill/>
          <a:ln w="12700">
            <a:solidFill>
              <a:srgbClr val="5D6E7C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SPV contracts everything outward; related-party contracts (Prospek services, SDHS EPC) disclosed, benchmarked and approved by non-conflicted directors.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13 · CONSORTIUM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key agreements and four governance principles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661904" y="274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7" name="Text 5"/>
          <p:cNvSpPr/>
          <p:nvPr/>
        </p:nvSpPr>
        <p:spPr>
          <a:xfrm>
            <a:off x="10661904" y="274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85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36192"/>
          <a:ext cx="60350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577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Shareholders' Agreement — governance, reserved matters, transfers, deadlock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 lease / SPA / land-for-equity — form follows verified tenure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Concession / development agreement with state (if applicable)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EPC Contract (FIDIC Silver/Yellow basis for lender-financed EPC)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O&amp;M / Terminal Operating Agreement(s)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 supply, integration and SLA agreements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Management / PMO Agreement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Financing documents — facility, security, lender direct agreements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Anchor customer / tenancy pre-commitments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858000" y="1536192"/>
            <a:ext cx="4828032" cy="4297680"/>
          </a:xfrm>
          <a:prstGeom prst="roundRect">
            <a:avLst>
              <a:gd name="adj" fmla="val 1170"/>
            </a:avLst>
          </a:prstGeom>
          <a:solidFill>
            <a:srgbClr val="F2F5F7"/>
          </a:solidFill>
          <a:ln/>
        </p:spPr>
      </p:sp>
      <p:sp>
        <p:nvSpPr>
          <p:cNvPr id="10" name="Text 7"/>
          <p:cNvSpPr/>
          <p:nvPr/>
        </p:nvSpPr>
        <p:spPr>
          <a:xfrm>
            <a:off x="7086600" y="17190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PRINCIPLES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86600" y="2103120"/>
            <a:ext cx="43891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proportional to equity, with protective minority rights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Related-party contracts disclosed, market-benchmarked, approved by non-conflicted directors — essential for lenders and co-investors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lender's engineer and model auditor at financial close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 and compliance committee from day one — a border/customs environment demands clean governance (the PKFZ lesson) [R79]</a:t>
            </a:r>
            <a:endParaRPr lang="en-US" sz="12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C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85800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40690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Twenty-five risks across ten categories, qualitatively scored pre-feasibility. Five are gating: they must be addressed before money moves.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Gating risks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register by category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ownership</a:t>
            </a:r>
            <a:endParaRPr lang="en-US" sz="11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14 · RISK REGISTER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gating risks — address before money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113264" y="274320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33566E"/>
          </a:solidFill>
          <a:ln/>
        </p:spPr>
      </p:sp>
      <p:sp>
        <p:nvSpPr>
          <p:cNvPr id="7" name="Text 5"/>
          <p:cNvSpPr/>
          <p:nvPr/>
        </p:nvSpPr>
        <p:spPr>
          <a:xfrm>
            <a:off x="10113264" y="2743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11183112" cy="804672"/>
          </a:xfrm>
          <a:prstGeom prst="roundRect">
            <a:avLst>
              <a:gd name="adj" fmla="val 6250"/>
            </a:avLst>
          </a:prstGeom>
          <a:solidFill>
            <a:srgbClr val="EDF1F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5448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94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R01 · Land &amp; rights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54680" y="160934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weaker than represented; project premise fails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269480" y="160934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DD as Phase 1 gate; zero capital before title verification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11183112" cy="804672"/>
          </a:xfrm>
          <a:prstGeom prst="roundRect">
            <a:avLst>
              <a:gd name="adj" fmla="val 6250"/>
            </a:avLst>
          </a:prstGeom>
          <a:solidFill>
            <a:srgbClr val="F2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46888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94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R02 · Government support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54680" y="252374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secured, or shifts with political cycles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269480" y="252374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instruments early; multi-party alignment (state + NCIA + federal)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383280"/>
            <a:ext cx="11183112" cy="804672"/>
          </a:xfrm>
          <a:prstGeom prst="roundRect">
            <a:avLst>
              <a:gd name="adj" fmla="val 6250"/>
            </a:avLst>
          </a:prstGeom>
          <a:solidFill>
            <a:srgbClr val="EDF1F4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38328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94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R06 · Demand evidence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154680" y="343814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Cargo volumes below case; slow ramp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269480" y="343814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pre-commitments before financial close; conservative lender case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4297680"/>
            <a:ext cx="11183112" cy="804672"/>
          </a:xfrm>
          <a:prstGeom prst="roundRect">
            <a:avLst>
              <a:gd name="adj" fmla="val 6250"/>
            </a:avLst>
          </a:prstGeom>
          <a:solidFill>
            <a:srgbClr val="F2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29768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94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R09 · Financeability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154680" y="435254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Greenfield border asset fails to raise acceptable debt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269480" y="435254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ECA/DFI tracks in parallel; staged capex; strong sponsor equity signal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5212080"/>
            <a:ext cx="11183112" cy="804672"/>
          </a:xfrm>
          <a:prstGeom prst="roundRect">
            <a:avLst>
              <a:gd name="adj" fmla="val 6250"/>
            </a:avLst>
          </a:prstGeom>
          <a:solidFill>
            <a:srgbClr val="EDF1F4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521208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94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R15 · Rail connection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154680" y="526694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KTMB siding approval/possession delays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269480" y="526694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technical agreement; design to operate road-only in interim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61722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3 = mitigation. Ratings are qualitative team judgments at pre-feasibility stage — to be re-scored quantitatively in due diligence.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14 · RISK REGISTER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overview: 25 risks across ten categories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113264" y="274320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33566E"/>
          </a:solidFill>
          <a:ln/>
        </p:spPr>
      </p:sp>
      <p:sp>
        <p:nvSpPr>
          <p:cNvPr id="7" name="Text 5"/>
          <p:cNvSpPr/>
          <p:nvPr/>
        </p:nvSpPr>
        <p:spPr>
          <a:xfrm>
            <a:off x="10113264" y="2743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85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8311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663440"/>
                <a:gridCol w="46908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Representative risks (L/I at pre-feasibility)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mitigations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 &amp; border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Licences delayed (M/H) · border policy shifts (M/H) · Thai-side lag (M/M)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JKDM engagement; design to operate without zone status initially; bilateral corridor dialogues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Commercial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Competition from PIP/BKH/Thai facilities (M/M) · anchor concentration (M/M) · KTMB haulage economics (M/M)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Complement/integrate positioning; tenant diversification; early KTMB commercial MOU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FX (M/M) · energy escalation vs cold chain (M/M)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Natural hedging; tariff pass-through; solar PV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Construction &amp; technical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Ground/flood conditions (M/M) · EPC overrun (M/H) · interfaces (M/M) · utility capacity (M/M)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GI before pricing; fixed-price wrap; single-wrap preference; early TNB application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 &amp; operations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 failure (M/M) · cyber breach (M/H) · operator underperformance (L/M) · labour gap (M/M)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standards + escrow; IEC 62443/ISO 27001 + SOC; KPI O&amp;M with step-in; NCIA training programmes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Political &amp; ESG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Geopolitics (L/M) · sanctions exposure (L/H) · EIA conditions (M/M) · DFI ESG bar (L/H)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Balanced consortium; DD screening + substitution rights; IFC PS-aligned ESMS from Phase 1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C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85800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40690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phases, five governance gates. Indicative durations only — the critical path runs through land verification and government process.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plan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gates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90 days</a:t>
            </a:r>
            <a:endParaRPr lang="en-US" sz="11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15 · ROADMAP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phases from due diligence to operations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661904" y="274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7" name="Text 5"/>
          <p:cNvSpPr/>
          <p:nvPr/>
        </p:nvSpPr>
        <p:spPr>
          <a:xfrm>
            <a:off x="10661904" y="274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2576322" cy="1371600"/>
          </a:xfrm>
          <a:prstGeom prst="roundRect">
            <a:avLst>
              <a:gd name="adj" fmla="val 3667"/>
            </a:avLst>
          </a:prstGeom>
          <a:solidFill>
            <a:srgbClr val="F2F5F7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737360"/>
            <a:ext cx="2430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Due Diligence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3–6 mo · land &amp; rights gate, red-flag report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11246" y="234086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11" name="Shape 9"/>
          <p:cNvSpPr/>
          <p:nvPr/>
        </p:nvSpPr>
        <p:spPr>
          <a:xfrm>
            <a:off x="3371850" y="1737360"/>
            <a:ext cx="2576322" cy="1371600"/>
          </a:xfrm>
          <a:prstGeom prst="roundRect">
            <a:avLst>
              <a:gd name="adj" fmla="val 3667"/>
            </a:avLst>
          </a:prstGeom>
          <a:solidFill>
            <a:srgbClr val="F2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3445002" y="1737360"/>
            <a:ext cx="2430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Consortium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3–6 mo · heads of terms, feasibility, partners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80176" y="234086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14" name="Shape 12"/>
          <p:cNvSpPr/>
          <p:nvPr/>
        </p:nvSpPr>
        <p:spPr>
          <a:xfrm>
            <a:off x="6240780" y="1737360"/>
            <a:ext cx="2576322" cy="1371600"/>
          </a:xfrm>
          <a:prstGeom prst="roundRect">
            <a:avLst>
              <a:gd name="adj" fmla="val 3667"/>
            </a:avLst>
          </a:prstGeom>
          <a:solidFill>
            <a:srgbClr val="F2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6313932" y="1737360"/>
            <a:ext cx="2430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Investment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6–12 mo · SPV, land agreements, financial close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49106" y="234086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17" name="Shape 15"/>
          <p:cNvSpPr/>
          <p:nvPr/>
        </p:nvSpPr>
        <p:spPr>
          <a:xfrm>
            <a:off x="9109710" y="1737360"/>
            <a:ext cx="2576322" cy="1371600"/>
          </a:xfrm>
          <a:prstGeom prst="roundRect">
            <a:avLst>
              <a:gd name="adj" fmla="val 3667"/>
            </a:avLst>
          </a:prstGeom>
          <a:solidFill>
            <a:srgbClr val="F2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9182862" y="1737360"/>
            <a:ext cx="2430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Engineering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9–12 mo · EIA, FEED in BIM, EPC tender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520440"/>
            <a:ext cx="3532632" cy="1371600"/>
          </a:xfrm>
          <a:prstGeom prst="roundRect">
            <a:avLst>
              <a:gd name="adj" fmla="val 3667"/>
            </a:avLst>
          </a:prstGeom>
          <a:solidFill>
            <a:srgbClr val="F2F5F7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3520440"/>
            <a:ext cx="3386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Construction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24–36 mo · phased, early-revenue sequencing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67556" y="412394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22" name="Shape 20"/>
          <p:cNvSpPr/>
          <p:nvPr/>
        </p:nvSpPr>
        <p:spPr>
          <a:xfrm>
            <a:off x="4328160" y="3520440"/>
            <a:ext cx="3532632" cy="1371600"/>
          </a:xfrm>
          <a:prstGeom prst="roundRect">
            <a:avLst>
              <a:gd name="adj" fmla="val 3667"/>
            </a:avLst>
          </a:prstGeom>
          <a:solidFill>
            <a:srgbClr val="F2F5F7"/>
          </a:solidFill>
          <a:ln/>
        </p:spPr>
      </p:sp>
      <p:sp>
        <p:nvSpPr>
          <p:cNvPr id="23" name="Text 21"/>
          <p:cNvSpPr/>
          <p:nvPr/>
        </p:nvSpPr>
        <p:spPr>
          <a:xfrm>
            <a:off x="4401312" y="3520440"/>
            <a:ext cx="3386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Digitalisation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phases 4–7 · ICC live at opening day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92796" y="4123944"/>
            <a:ext cx="228600" cy="164592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25" name="Shape 23"/>
          <p:cNvSpPr/>
          <p:nvPr/>
        </p:nvSpPr>
        <p:spPr>
          <a:xfrm>
            <a:off x="8153400" y="3520440"/>
            <a:ext cx="3532632" cy="1371600"/>
          </a:xfrm>
          <a:prstGeom prst="roundRect">
            <a:avLst>
              <a:gd name="adj" fmla="val 3667"/>
            </a:avLst>
          </a:prstGeom>
          <a:solidFill>
            <a:srgbClr val="F2F5F7"/>
          </a:solidFill>
          <a:ln/>
        </p:spPr>
      </p:sp>
      <p:sp>
        <p:nvSpPr>
          <p:cNvPr id="26" name="Text 24"/>
          <p:cNvSpPr/>
          <p:nvPr/>
        </p:nvSpPr>
        <p:spPr>
          <a:xfrm>
            <a:off x="8226552" y="3520440"/>
            <a:ext cx="3386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Operations &amp; growth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ramp-up, ISO 55000 regime, refinancing, Phase 2 triggers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5257800"/>
            <a:ext cx="11183112" cy="914400"/>
          </a:xfrm>
          <a:prstGeom prst="roundRect">
            <a:avLst>
              <a:gd name="adj" fmla="val 5500"/>
            </a:avLst>
          </a:prstGeom>
          <a:solidFill>
            <a:srgbClr val="F2F5F7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257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1–2 overlap deliberately: consortium conversations begin during due diligence, but no party commits capital until Gate G1 clears.</a:t>
            </a:r>
            <a:endParaRPr lang="en-US" sz="11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15 · ROADMAP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governance gates — and the first 90 days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113264" y="274320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33566E"/>
          </a:solidFill>
          <a:ln/>
        </p:spPr>
      </p:sp>
      <p:sp>
        <p:nvSpPr>
          <p:cNvPr id="7" name="Text 5"/>
          <p:cNvSpPr/>
          <p:nvPr/>
        </p:nvSpPr>
        <p:spPr>
          <a:xfrm>
            <a:off x="10113264" y="2743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85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36192"/>
          <a:ext cx="658368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2011680"/>
                <a:gridCol w="3886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required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Proceed past DD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 land/rights, government support signals, demand baseline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 consortium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Positive feasibility, aligned partners, heads of terms with owner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close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Bankable package: contracts, approvals, committed funding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Notice to proceed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EPC signed, land access, insurance, CPs met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for operations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Commissioning complete, licences in force, operator ready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452360" y="1536192"/>
            <a:ext cx="4233672" cy="4480560"/>
          </a:xfrm>
          <a:prstGeom prst="roundRect">
            <a:avLst>
              <a:gd name="adj" fmla="val 1188"/>
            </a:avLst>
          </a:prstGeom>
          <a:solidFill>
            <a:srgbClr val="13293D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0" y="1719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90 DAYS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0" y="2103120"/>
            <a:ext cx="3794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NDA + information request (Section 11 list) with project owner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title searches and encumbrance checks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workshop on the 26 questions (Section 12)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Soundings: state government, NCIA, KTMB, JKDM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Shandong Hi-Speed on posture options (Section 8)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cargo demand scan and PIP positioning study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25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Red Flag Report → G1 go/no-go</a:t>
            </a:r>
            <a:endParaRPr lang="en-US" sz="12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C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99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85800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40690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asset recommendations · assumptions register · consolidated references.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&amp; map plan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 A01–A24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R1–R82</a:t>
            </a:r>
            <a:endParaRPr lang="en-US" sz="11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asset plan: photos, maps and icons for the final deck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113264" y="274320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33566E"/>
          </a:solidFill>
          <a:ln/>
        </p:spPr>
      </p:sp>
      <p:sp>
        <p:nvSpPr>
          <p:cNvPr id="7" name="Text 5"/>
          <p:cNvSpPr/>
          <p:nvPr/>
        </p:nvSpPr>
        <p:spPr>
          <a:xfrm>
            <a:off x="10113264" y="2743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85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8311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486400"/>
                <a:gridCol w="4142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/ rights note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Hero photo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Padang Besar station rail yard with freight wagons at dawn; alternative: ASEAN Express launch imagery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Commission photographer on site visit; Bernama/KTMB imagery requires licence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Border imagery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ICQS complex approach, truck queue (illustrates the marshalling case)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visit photography; avoid security-sensitive angles — clear with ICQS authorities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 context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Perlis Inland Port gate/yard (establishes the incumbent honestly)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Mutiara Perlis/NCIA press assets with permission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Corridor map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Peninsular map: Padang Besar–Penang–Klang rail spine + Hat Yai–Bangkok–Laos–China; inset: border-town detail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Redraw from OpenStreetMap (ODbL attribution) — do not screenshot Google Maps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plan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after owner confirms parcels — placeholder schematic until then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 survey data; licensed surveyor output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Icons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Single-line style (rail, truck, warehouse, snowflake, shield, satellite) — one family throughout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Licensed icon set (e.g., Streamline/Noun Project licence)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Drone footage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Construction-phase progress films for investor updates (Phase 5)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CAAM permit required near border zone — check restricted airspace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 register (1 of 2): A01–A12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015984" y="274320"/>
            <a:ext cx="2670048" cy="27432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7" name="Text 5"/>
          <p:cNvSpPr/>
          <p:nvPr/>
        </p:nvSpPr>
        <p:spPr>
          <a:xfrm>
            <a:off x="9015984" y="27432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OWNER CONFIRMATION</a:t>
            </a:r>
            <a:endParaRPr lang="en-US" sz="85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18311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8412480"/>
                <a:gridCol w="21305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Assumption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A01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defined project exists with an owner able to grant land/rights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A02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Sufficient land near border/rail can be secured on lender-acceptable tenure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A03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can position as complement/integrator to Perlis Inland Port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Owner/Market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A04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KTMB will agree to siding connection and commercial services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A05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Customs/bonded/FCZ licensing obtainable for the site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A06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Border cargo demand keeps growing in line with verified trends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A07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Cold-chain white space exists at the border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Judgment/Market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A08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Truck marshalling services are monetisable against border hours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Judgment/Market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A09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Shandong Hi-Speed would consider EPC and/or equity roles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A10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Prospek Cerah can evidence capability for its eight roles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A11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Consortium can satisfy 51% Malaysian floor + Bumiputera conditions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A12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financing achievable given BPMB/IFC/AIIB precedents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 register (2 of 2): A13–A24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015984" y="274320"/>
            <a:ext cx="2670048" cy="27432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7" name="Text 5"/>
          <p:cNvSpPr/>
          <p:nvPr/>
        </p:nvSpPr>
        <p:spPr>
          <a:xfrm>
            <a:off x="9015984" y="27432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OWNER CONFIRMATION</a:t>
            </a:r>
            <a:endParaRPr lang="en-US" sz="85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18311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8412480"/>
                <a:gridCol w="21305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Assumption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A13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20-WP breakdown matches final master plan scope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Judgment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A14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systems can interface with JKDM systems at reasonable cost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A15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phase durations achievable if gating items clear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Judgment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A16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support for additional logistics investment is obtainable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A17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Border Economic Zone will produce usable incentives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A18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SRT Hat Yai–Padang Besar double-tracking proceeds on reported timeline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Government/Market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A19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Qualitative risk ratings reflect the true pre-feasibility profile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Judgment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A20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adverse existing agreements encumber the project or site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A21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Thai counterparts cooperate on corridor improvements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A22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Published PIP figures are broadly accurate despite source conflicts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Judgment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A23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model structure covers all material categories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Judgment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A24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Consortium roles map is negotiable to signature without structural change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23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Judgment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(1 of 2): border, rail, PIP, trade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838944" y="274320"/>
            <a:ext cx="1847088" cy="274320"/>
          </a:xfrm>
          <a:prstGeom prst="roundRect">
            <a:avLst>
              <a:gd name="adj" fmla="val 50000"/>
            </a:avLst>
          </a:prstGeom>
          <a:solidFill>
            <a:srgbClr val="2F7D5B"/>
          </a:solidFill>
          <a:ln/>
        </p:spPr>
      </p:sp>
      <p:sp>
        <p:nvSpPr>
          <p:cNvPr id="7" name="Text 5"/>
          <p:cNvSpPr/>
          <p:nvPr/>
        </p:nvSpPr>
        <p:spPr>
          <a:xfrm>
            <a:off x="9838944" y="27432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PUBLICLY VERIFIED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111556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R1–R5 Border town, station, juxtaposed controls, operating hours — Wikivoyage; Border Crossing Hub; Wikipedia (Padang Besar railway station); FMT (2017); Mekong Region guide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R6–R8 Roads — Wikipedia FT7/FT79; paultan.org (BKH–Sadao road, 10 Jul 2026)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R9–R13 Rail &amp; services — China Daily (gauge); KTMB Kargo; The Star (block train 2022; ASEAN Express 2024); railmarket.com (STC, Dec 2025)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R14–R28 Perlis Inland Port — The Edge; The Star (25 Mar 2025); Railway Gazette (13 Apr 2025); Bernama (30 May 2026); BPMB; NCER; MIDA; FMT (14 Jul 2026); Harakah Daily; RMCD; WCO News; CAREC; Citaglobal reports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R29–R41 Rail policy &amp; PIP ecosystem — KTMB ETS; Nation Thailand (Thanaleng gauge, SRT double-tracking); FMT; SCMP; Malay Mail (13MP rail); ANN; NST (Kalmar); The Edge (GDC, Maritime Corridor); MIDA (MOU/MOC); Business Today (Berjaya)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R42–R51 Border &amp; trade — Thai PRD; Malaysiakini; Singapore Customs (ASW); ACTS portal; MITI (JTC US$30bn); Nation Thailand (trade 2024/2025, checkpoint values); Thairath; KLSE Screener; The Star (Penang 70%)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citation list with URLs: docs/17_references.md in the package repository.</a:t>
            </a:r>
            <a:endParaRPr lang="en-US" sz="9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(2 of 2): policy, Perlis, Shandong, benchmarks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838944" y="274320"/>
            <a:ext cx="1847088" cy="274320"/>
          </a:xfrm>
          <a:prstGeom prst="roundRect">
            <a:avLst>
              <a:gd name="adj" fmla="val 50000"/>
            </a:avLst>
          </a:prstGeom>
          <a:solidFill>
            <a:srgbClr val="2F7D5B"/>
          </a:solidFill>
          <a:ln/>
        </p:spPr>
      </p:sp>
      <p:sp>
        <p:nvSpPr>
          <p:cNvPr id="7" name="Text 5"/>
          <p:cNvSpPr/>
          <p:nvPr/>
        </p:nvSpPr>
        <p:spPr>
          <a:xfrm>
            <a:off x="9838944" y="27432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PUBLICLY VERIFIED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11155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R52–R55 ASEAN &amp; corridors — ASEAN Connectivity Strategic Plan 2026–2035; ADB (IMT-GT); Wikipedia (Kunming–Singapore); Bangkok Post (Land Bridge)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R56–R63 Federal &amp; rules — NCER/NCIA; MIDA (CVIA); PMO (NTP 2019–2030); MOT (LTFM); Malay Mail (Border Economic Zone; 51% ports rule); UKAS/The Star (PIKAS 2030); MITI (equity conditions)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R64–R65 Perlis state — Malay Mail (2026 budget); Perlis state portal (growth areas)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R66–R74 Shandong Hi-Speed — Wikipedia; Baidu Baike (flagged company-published); Devex; Xinhua Silk Road (Qilu); Alpha Spread (000498.SZ); CSI/CTOS record; The Star &amp; The Edge (PTT Synergy, Sep 2025); Moody's (2018 A3)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2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R75–R82 Benchmarks &amp; financing — IFC &amp; AIIB (Thanaleng); UNESCAP (Lat Krabang, Malaysian dry ports); ResearchGate; The Edge (PKFZ); AIIB (US$6bn Malaysian bank partnership); Sime Darby Property/Mingtiandi (LOGOS fund)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5532120"/>
            <a:ext cx="11183112" cy="777240"/>
          </a:xfrm>
          <a:prstGeom prst="roundRect">
            <a:avLst>
              <a:gd name="adj" fmla="val 6471"/>
            </a:avLst>
          </a:prstGeom>
          <a:solidFill>
            <a:srgbClr val="F2F5F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55321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Citation-quality note: aggregator and trade-press items are flagged in text and must be replaced with primary documents (Bursa filings, gazettes, audited statements) during due diligence.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C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Padang Besar Cross-Border Logistics Platform  ·  Project Development Package  ·  Draft for discussion — not an offer or representation of rights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meeting with the project owner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unlocks everything else.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corridor thesis is verified; the project's rights are not — Phase 1 due diligence resolves that in 3–6 months at development-capital cost only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26 owner questions and 11 due-diligence workstreams in this package are the agenda for that meeting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capital, no commitments and no representations until Gate G1 clears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D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document contains no representation of ownership, concession, operating rights or licences. All items not publicly verified are pending confirmation from the project owner.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Prospek Cerah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Padang Besar Cross-Border Logistics Platform — Project Development Package</dc:title>
  <dc:subject>PptxGenJS Presentation</dc:subject>
  <dc:creator>Prospek Cerah project development team</dc:creator>
  <cp:lastModifiedBy>Prospek Cerah project development team</cp:lastModifiedBy>
  <cp:revision>1</cp:revision>
  <dcterms:created xsi:type="dcterms:W3CDTF">2026-07-26T11:32:07Z</dcterms:created>
  <dcterms:modified xsi:type="dcterms:W3CDTF">2026-07-26T11:32:07Z</dcterms:modified>
</cp:coreProperties>
</file>