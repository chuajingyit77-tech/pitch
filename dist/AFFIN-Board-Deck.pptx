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hero_scri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3FD5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AFFIN BANK BERHAD  ·  CONFIDENTIAL  ·  JULY 2026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58368" y="182880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You are already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paying for this.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58368" y="43434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9C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Inspections. Emergency repairs. Wasted power. Guarding hours. ATM call-outs.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9C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Valuation trips. An insurance premium you have no data to argue with.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" y="5257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We take that money back — and you pay us nothing until it is back.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" y="6172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Prospek Cerah Inovasi IT Sdn. Bhd.   ×   云星宇 Yunxingyu · Beijing Stock Exchange 873806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C7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THIS COSTS AFFIN TO FIND 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1783080"/>
            <a:ext cx="1219169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dirty="0">
                <a:solidFill>
                  <a:srgbClr val="EFC978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RM 0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2011680" y="4343400"/>
            <a:ext cx="81683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diagnostic is at our cost. The pilot fee is capped and credited back. After that we are paid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9B7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only from savings your own finance team has verified.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52120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No verified saving.  No fee.  Ever.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0B889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· WHERE THE MONEY GOES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Eight bills. Every one of them too big.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19072"/>
            <a:ext cx="10874959" cy="0"/>
          </a:xfrm>
          <a:prstGeom prst="line">
            <a:avLst/>
          </a:prstGeom>
          <a:noFill/>
          <a:ln w="12700">
            <a:solidFill>
              <a:srgbClr val="1019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2880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1288" y="1810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Building inspection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61288" y="2048256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Crews on ropes and ladders, patchy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0" y="1911096"/>
            <a:ext cx="2468880" cy="100584"/>
          </a:xfrm>
          <a:prstGeom prst="roundRect">
            <a:avLst>
              <a:gd name="adj" fmla="val 45455"/>
            </a:avLst>
          </a:prstGeom>
          <a:solidFill>
            <a:srgbClr val="DCDBD4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1911096"/>
            <a:ext cx="1481328" cy="100584"/>
          </a:xfrm>
          <a:prstGeom prst="roundRect">
            <a:avLst>
              <a:gd name="adj" fmla="val 45455"/>
            </a:avLst>
          </a:prstGeom>
          <a:solidFill>
            <a:srgbClr val="8A6620"/>
          </a:solidFill>
          <a:ln/>
        </p:spPr>
      </p:sp>
      <p:sp>
        <p:nvSpPr>
          <p:cNvPr id="10" name="Text 8"/>
          <p:cNvSpPr/>
          <p:nvPr/>
        </p:nvSpPr>
        <p:spPr>
          <a:xfrm>
            <a:off x="10012680" y="179222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A662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50–60%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58368" y="2258568"/>
            <a:ext cx="10874959" cy="0"/>
          </a:xfrm>
          <a:prstGeom prst="line">
            <a:avLst/>
          </a:prstGeom>
          <a:noFill/>
          <a:ln w="9525">
            <a:solidFill>
              <a:srgbClr val="D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2714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61288" y="23088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Branch energy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61288" y="2546604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HVAC running into empty nights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409444"/>
            <a:ext cx="2468880" cy="100584"/>
          </a:xfrm>
          <a:prstGeom prst="roundRect">
            <a:avLst>
              <a:gd name="adj" fmla="val 45455"/>
            </a:avLst>
          </a:prstGeom>
          <a:solidFill>
            <a:srgbClr val="DCDB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2409444"/>
            <a:ext cx="617220" cy="100584"/>
          </a:xfrm>
          <a:prstGeom prst="roundRect">
            <a:avLst>
              <a:gd name="adj" fmla="val 45455"/>
            </a:avLst>
          </a:prstGeom>
          <a:solidFill>
            <a:srgbClr val="8A662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12680" y="22905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A662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18–25%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58368" y="2756916"/>
            <a:ext cx="10874959" cy="0"/>
          </a:xfrm>
          <a:prstGeom prst="line">
            <a:avLst/>
          </a:prstGeom>
          <a:noFill/>
          <a:ln w="9525">
            <a:solidFill>
              <a:srgbClr val="DCDB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82549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61288" y="2807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61288" y="3044952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Breakdowns cost 3–5× planned work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2907792"/>
            <a:ext cx="2468880" cy="100584"/>
          </a:xfrm>
          <a:prstGeom prst="roundRect">
            <a:avLst>
              <a:gd name="adj" fmla="val 45455"/>
            </a:avLst>
          </a:prstGeom>
          <a:solidFill>
            <a:srgbClr val="DCDBD4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2907792"/>
            <a:ext cx="617220" cy="100584"/>
          </a:xfrm>
          <a:prstGeom prst="roundRect">
            <a:avLst>
              <a:gd name="adj" fmla="val 45455"/>
            </a:avLst>
          </a:prstGeom>
          <a:solidFill>
            <a:srgbClr val="8A662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12680" y="27889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A662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20–25%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58368" y="3255264"/>
            <a:ext cx="10874959" cy="0"/>
          </a:xfrm>
          <a:prstGeom prst="line">
            <a:avLst/>
          </a:prstGeom>
          <a:noFill/>
          <a:ln w="9525">
            <a:solidFill>
              <a:srgbClr val="DCDB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32384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61288" y="33055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Branch network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61288" y="354330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Overlapping catchments, prime rent on quiet sites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0" y="3406140"/>
            <a:ext cx="2468880" cy="100584"/>
          </a:xfrm>
          <a:prstGeom prst="roundRect">
            <a:avLst>
              <a:gd name="adj" fmla="val 45455"/>
            </a:avLst>
          </a:prstGeom>
          <a:solidFill>
            <a:srgbClr val="DCDBD4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3406140"/>
            <a:ext cx="370332" cy="100584"/>
          </a:xfrm>
          <a:prstGeom prst="roundRect">
            <a:avLst>
              <a:gd name="adj" fmla="val 45455"/>
            </a:avLst>
          </a:prstGeom>
          <a:solidFill>
            <a:srgbClr val="8A6620"/>
          </a:solidFill>
          <a:ln/>
        </p:spPr>
      </p:sp>
      <p:sp>
        <p:nvSpPr>
          <p:cNvPr id="31" name="Text 29"/>
          <p:cNvSpPr/>
          <p:nvPr/>
        </p:nvSpPr>
        <p:spPr>
          <a:xfrm>
            <a:off x="10012680" y="32872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A662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10–15%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658368" y="3753612"/>
            <a:ext cx="10874959" cy="0"/>
          </a:xfrm>
          <a:prstGeom prst="line">
            <a:avLst/>
          </a:prstGeom>
          <a:noFill/>
          <a:ln w="9525">
            <a:solidFill>
              <a:srgbClr val="DCDB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82219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61288" y="38039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Security &amp; guarding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61288" y="4041648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Night shifts are a third of the bill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0" y="3904488"/>
            <a:ext cx="2468880" cy="100584"/>
          </a:xfrm>
          <a:prstGeom prst="roundRect">
            <a:avLst>
              <a:gd name="adj" fmla="val 45455"/>
            </a:avLst>
          </a:prstGeom>
          <a:solidFill>
            <a:srgbClr val="DCDBD4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0" y="3904488"/>
            <a:ext cx="740664" cy="100584"/>
          </a:xfrm>
          <a:prstGeom prst="roundRect">
            <a:avLst>
              <a:gd name="adj" fmla="val 45455"/>
            </a:avLst>
          </a:prstGeom>
          <a:solidFill>
            <a:srgbClr val="8A6620"/>
          </a:solidFill>
          <a:ln/>
        </p:spPr>
      </p:sp>
      <p:sp>
        <p:nvSpPr>
          <p:cNvPr id="38" name="Text 36"/>
          <p:cNvSpPr/>
          <p:nvPr/>
        </p:nvSpPr>
        <p:spPr>
          <a:xfrm>
            <a:off x="10012680" y="37856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A662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20–30%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658368" y="4251960"/>
            <a:ext cx="10874959" cy="0"/>
          </a:xfrm>
          <a:prstGeom prst="line">
            <a:avLst/>
          </a:prstGeom>
          <a:noFill/>
          <a:ln w="9525">
            <a:solidFill>
              <a:srgbClr val="DCDB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43205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61288" y="43022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ATM operations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161288" y="4539996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Checked twice a day; skimmers are invisible to that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0" y="4402836"/>
            <a:ext cx="2468880" cy="100584"/>
          </a:xfrm>
          <a:prstGeom prst="roundRect">
            <a:avLst>
              <a:gd name="adj" fmla="val 45455"/>
            </a:avLst>
          </a:prstGeom>
          <a:solidFill>
            <a:srgbClr val="DCDBD4"/>
          </a:solidFill>
          <a:ln/>
        </p:spPr>
      </p:sp>
      <p:sp>
        <p:nvSpPr>
          <p:cNvPr id="44" name="Shape 42"/>
          <p:cNvSpPr/>
          <p:nvPr/>
        </p:nvSpPr>
        <p:spPr>
          <a:xfrm>
            <a:off x="7315200" y="4402836"/>
            <a:ext cx="1481328" cy="100584"/>
          </a:xfrm>
          <a:prstGeom prst="roundRect">
            <a:avLst>
              <a:gd name="adj" fmla="val 45455"/>
            </a:avLst>
          </a:prstGeom>
          <a:solidFill>
            <a:srgbClr val="8A6620"/>
          </a:solidFill>
          <a:ln/>
        </p:spPr>
      </p:sp>
      <p:sp>
        <p:nvSpPr>
          <p:cNvPr id="45" name="Text 43"/>
          <p:cNvSpPr/>
          <p:nvPr/>
        </p:nvSpPr>
        <p:spPr>
          <a:xfrm>
            <a:off x="10012680" y="42839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A662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~60%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658368" y="4750308"/>
            <a:ext cx="10874959" cy="0"/>
          </a:xfrm>
          <a:prstGeom prst="line">
            <a:avLst/>
          </a:prstGeom>
          <a:noFill/>
          <a:ln w="9525">
            <a:solidFill>
              <a:srgbClr val="DCDB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481888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61288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Collateral valuation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161288" y="5038344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3–5 days and a travel bill per revaluation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15200" y="4901184"/>
            <a:ext cx="2468880" cy="100584"/>
          </a:xfrm>
          <a:prstGeom prst="roundRect">
            <a:avLst>
              <a:gd name="adj" fmla="val 45455"/>
            </a:avLst>
          </a:prstGeom>
          <a:solidFill>
            <a:srgbClr val="DCDBD4"/>
          </a:solidFill>
          <a:ln/>
        </p:spPr>
      </p:sp>
      <p:sp>
        <p:nvSpPr>
          <p:cNvPr id="51" name="Shape 49"/>
          <p:cNvSpPr/>
          <p:nvPr/>
        </p:nvSpPr>
        <p:spPr>
          <a:xfrm>
            <a:off x="7315200" y="4901184"/>
            <a:ext cx="987552" cy="100584"/>
          </a:xfrm>
          <a:prstGeom prst="roundRect">
            <a:avLst>
              <a:gd name="adj" fmla="val 45455"/>
            </a:avLst>
          </a:prstGeom>
          <a:solidFill>
            <a:srgbClr val="8A6620"/>
          </a:solidFill>
          <a:ln/>
        </p:spPr>
      </p:sp>
      <p:sp>
        <p:nvSpPr>
          <p:cNvPr id="52" name="Text 50"/>
          <p:cNvSpPr/>
          <p:nvPr/>
        </p:nvSpPr>
        <p:spPr>
          <a:xfrm>
            <a:off x="10012680" y="47823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A662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30–40%</a:t>
            </a:r>
            <a:endParaRPr lang="en-US" sz="1900" dirty="0"/>
          </a:p>
        </p:txBody>
      </p:sp>
      <p:sp>
        <p:nvSpPr>
          <p:cNvPr id="53" name="Shape 51"/>
          <p:cNvSpPr/>
          <p:nvPr/>
        </p:nvSpPr>
        <p:spPr>
          <a:xfrm>
            <a:off x="658368" y="5248656"/>
            <a:ext cx="10874959" cy="0"/>
          </a:xfrm>
          <a:prstGeom prst="line">
            <a:avLst/>
          </a:prstGeom>
          <a:noFill/>
          <a:ln w="9525">
            <a:solidFill>
              <a:srgbClr val="DCDB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" y="531723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A8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61288" y="52989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Insurance premium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161288" y="5536692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Priced on industry average because you have no data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315200" y="5399532"/>
            <a:ext cx="2468880" cy="100584"/>
          </a:xfrm>
          <a:prstGeom prst="roundRect">
            <a:avLst>
              <a:gd name="adj" fmla="val 45455"/>
            </a:avLst>
          </a:prstGeom>
          <a:solidFill>
            <a:srgbClr val="DCDBD4"/>
          </a:solidFill>
          <a:ln/>
        </p:spPr>
      </p:sp>
      <p:sp>
        <p:nvSpPr>
          <p:cNvPr id="58" name="Shape 56"/>
          <p:cNvSpPr/>
          <p:nvPr/>
        </p:nvSpPr>
        <p:spPr>
          <a:xfrm>
            <a:off x="7315200" y="5399532"/>
            <a:ext cx="370332" cy="100584"/>
          </a:xfrm>
          <a:prstGeom prst="roundRect">
            <a:avLst>
              <a:gd name="adj" fmla="val 45455"/>
            </a:avLst>
          </a:prstGeom>
          <a:solidFill>
            <a:srgbClr val="8A6620"/>
          </a:solidFill>
          <a:ln/>
        </p:spPr>
      </p:sp>
      <p:sp>
        <p:nvSpPr>
          <p:cNvPr id="59" name="Text 57"/>
          <p:cNvSpPr/>
          <p:nvPr/>
        </p:nvSpPr>
        <p:spPr>
          <a:xfrm>
            <a:off x="10012680" y="528066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dirty="0">
                <a:solidFill>
                  <a:srgbClr val="8A662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8–15%</a:t>
            </a:r>
            <a:endParaRPr lang="en-US" sz="1900" dirty="0"/>
          </a:p>
        </p:txBody>
      </p:sp>
      <p:sp>
        <p:nvSpPr>
          <p:cNvPr id="60" name="Shape 58"/>
          <p:cNvSpPr/>
          <p:nvPr/>
        </p:nvSpPr>
        <p:spPr>
          <a:xfrm>
            <a:off x="658368" y="5747004"/>
            <a:ext cx="10874959" cy="0"/>
          </a:xfrm>
          <a:prstGeom prst="line">
            <a:avLst/>
          </a:prstGeom>
          <a:noFill/>
          <a:ln w="9525">
            <a:solidFill>
              <a:srgbClr val="DCDBD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" y="5961888"/>
            <a:ext cx="10874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8545F"/>
                </a:solidFill>
                <a:latin typeface="Times-Italic" pitchFamily="34" charset="0"/>
                <a:ea typeface="Times-Italic" pitchFamily="34" charset="-122"/>
                <a:cs typeface="Times-Italic" pitchFamily="34" charset="-120"/>
              </a:rPr>
              <a:t>A8 feeds the risk data from A1–A7 to the insurer. The eighth module is the interest on the first seven.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658368" y="64373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Prospek Cerah Inovasi IT × 云星宇 873806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1185855" y="64373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twin_scri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1887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EFC978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13</a:t>
            </a:r>
            <a:endParaRPr lang="en-US" sz="8600" dirty="0"/>
          </a:p>
        </p:txBody>
      </p:sp>
      <p:sp>
        <p:nvSpPr>
          <p:cNvPr id="4" name="Text 1"/>
          <p:cNvSpPr/>
          <p:nvPr/>
        </p:nvSpPr>
        <p:spPr>
          <a:xfrm>
            <a:off x="658368" y="251460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One flight.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Thirteen returns.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58368" y="42976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drone that inspects a building for A1 also revalues collateral for A7, verifies progress for B1 and feeds monitoring for B3. Same flight. Four outputs.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5230368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The 13th module costs a fraction of the 1st — which is why buying it piecemeal from three vendors costs more and delivers less.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8A66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· THE COMMERCIAL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Where your money sits, phase by phase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3442106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8838D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78408" y="2487168"/>
            <a:ext cx="28020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Diagnostic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78408" y="2798064"/>
            <a:ext cx="2802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4–6 weeks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78408" y="3154680"/>
            <a:ext cx="2103120" cy="329184"/>
          </a:xfrm>
          <a:prstGeom prst="roundRect">
            <a:avLst>
              <a:gd name="adj" fmla="val 16667"/>
            </a:avLst>
          </a:prstGeom>
          <a:solidFill>
            <a:srgbClr val="2E8757">
              <a:alpha val="16000"/>
            </a:srgbClr>
          </a:solidFill>
          <a:ln w="12700">
            <a:solidFill>
              <a:srgbClr val="2E8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15468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875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RM 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3639312"/>
            <a:ext cx="28020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read your bills at our cost and hand back a jointly-signed savings baseline.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4794" y="1828800"/>
            <a:ext cx="3442106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4834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8838D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94834" y="2487168"/>
            <a:ext cx="28020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90-day pilot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4834" y="2798064"/>
            <a:ext cx="2802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10–15 branches · 3–5 projects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94834" y="3154680"/>
            <a:ext cx="2103120" cy="329184"/>
          </a:xfrm>
          <a:prstGeom prst="roundRect">
            <a:avLst>
              <a:gd name="adj" fmla="val 16667"/>
            </a:avLst>
          </a:prstGeom>
          <a:solidFill>
            <a:srgbClr val="A9701B">
              <a:alpha val="16000"/>
            </a:srgbClr>
          </a:solidFill>
          <a:ln w="12700">
            <a:solidFill>
              <a:srgbClr val="A970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4834" y="315468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701B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Capped · credited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94834" y="3639312"/>
            <a:ext cx="28020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capped fee, credited back in full against Phase 02.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1221" y="1828800"/>
            <a:ext cx="3442106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1261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8838D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411261" y="2487168"/>
            <a:ext cx="28020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Scale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1261" y="2798064"/>
            <a:ext cx="2802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Gain-share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11261" y="3154680"/>
            <a:ext cx="2103120" cy="329184"/>
          </a:xfrm>
          <a:prstGeom prst="roundRect">
            <a:avLst>
              <a:gd name="adj" fmla="val 16667"/>
            </a:avLst>
          </a:prstGeom>
          <a:solidFill>
            <a:srgbClr val="8A6620">
              <a:alpha val="16000"/>
            </a:srgbClr>
          </a:solidFill>
          <a:ln w="12700">
            <a:solidFill>
              <a:srgbClr val="8A66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1261" y="315468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62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From savings only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1261" y="3639312"/>
            <a:ext cx="280202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Paid out of verified savings. Nothing verified in a period, nothing charged.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4709160"/>
            <a:ext cx="10874959" cy="1234440"/>
          </a:xfrm>
          <a:prstGeom prst="roundRect">
            <a:avLst>
              <a:gd name="adj" fmla="val 6667"/>
            </a:avLst>
          </a:prstGeom>
          <a:solidFill>
            <a:srgbClr val="8A6620">
              <a:alpha val="10000"/>
            </a:srgbClr>
          </a:solidFill>
          <a:ln w="15875">
            <a:solidFill>
              <a:srgbClr val="8A66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8646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662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And if Day 90 falls short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4128" y="5193792"/>
            <a:ext cx="101434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your own measurement shows verified savings below the pilot cost,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019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absorb the shortfall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 The pilot fee is credited or waived. Your downside is written down before a single sensor is installed.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" y="64373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Prospek Cerah Inovasi IT × 云星宇 873806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85855" y="64373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0B889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B1 CONSTRUCTION FINANCE ASSURANCE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Drawdown runs ahead of the concrete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 find out months later. This closes that gap.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6583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4688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48545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DRAWDOWN vs VERIFIED PHYSICAL PROGRESS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Physical progress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35808" y="2926080"/>
            <a:ext cx="2926080" cy="155448"/>
          </a:xfrm>
          <a:prstGeom prst="roundRect">
            <a:avLst>
              <a:gd name="adj" fmla="val 47059"/>
            </a:avLst>
          </a:prstGeom>
          <a:solidFill>
            <a:srgbClr val="E4E7E0"/>
          </a:solidFill>
          <a:ln/>
        </p:spPr>
      </p:sp>
      <p:sp>
        <p:nvSpPr>
          <p:cNvPr id="9" name="Shape 7"/>
          <p:cNvSpPr/>
          <p:nvPr/>
        </p:nvSpPr>
        <p:spPr>
          <a:xfrm>
            <a:off x="3035808" y="2926080"/>
            <a:ext cx="1814170" cy="155448"/>
          </a:xfrm>
          <a:prstGeom prst="roundRect">
            <a:avLst>
              <a:gd name="adj" fmla="val 47059"/>
            </a:avLst>
          </a:prstGeom>
          <a:solidFill>
            <a:srgbClr val="2E8757"/>
          </a:solidFill>
          <a:ln/>
        </p:spPr>
      </p:sp>
      <p:sp>
        <p:nvSpPr>
          <p:cNvPr id="10" name="Text 8"/>
          <p:cNvSpPr/>
          <p:nvPr/>
        </p:nvSpPr>
        <p:spPr>
          <a:xfrm>
            <a:off x="6099048" y="2834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62%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32826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Cumulative drawdown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35808" y="3355848"/>
            <a:ext cx="2926080" cy="155448"/>
          </a:xfrm>
          <a:prstGeom prst="roundRect">
            <a:avLst>
              <a:gd name="adj" fmla="val 47059"/>
            </a:avLst>
          </a:prstGeom>
          <a:solidFill>
            <a:srgbClr val="E4E7E0"/>
          </a:solidFill>
          <a:ln/>
        </p:spPr>
      </p:sp>
      <p:sp>
        <p:nvSpPr>
          <p:cNvPr id="13" name="Shape 11"/>
          <p:cNvSpPr/>
          <p:nvPr/>
        </p:nvSpPr>
        <p:spPr>
          <a:xfrm>
            <a:off x="3035808" y="3355848"/>
            <a:ext cx="2370125" cy="155448"/>
          </a:xfrm>
          <a:prstGeom prst="roundRect">
            <a:avLst>
              <a:gd name="adj" fmla="val 47059"/>
            </a:avLst>
          </a:prstGeom>
          <a:solidFill>
            <a:srgbClr val="B8402D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48" y="326440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81%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3767328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A9701B">
              <a:alpha val="18000"/>
            </a:srgbClr>
          </a:solidFill>
          <a:ln w="12700">
            <a:solidFill>
              <a:srgbClr val="A970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76732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701B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HOLD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29968" y="37307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19-point gap. Release held pending an exception visit. Your committee still decides — it just decides on better evidence.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16368" y="2240280"/>
            <a:ext cx="4016959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2359152"/>
            <a:ext cx="91440" cy="91440"/>
          </a:xfrm>
          <a:prstGeom prst="ellipse">
            <a:avLst/>
          </a:prstGeom>
          <a:solidFill>
            <a:srgbClr val="0B8892"/>
          </a:solidFill>
          <a:ln/>
        </p:spPr>
      </p:sp>
      <p:sp>
        <p:nvSpPr>
          <p:cNvPr id="20" name="Text 18"/>
          <p:cNvSpPr/>
          <p:nvPr/>
        </p:nvSpPr>
        <p:spPr>
          <a:xfrm>
            <a:off x="7900416" y="2240280"/>
            <a:ext cx="34683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progress monitoring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16368" y="2642616"/>
            <a:ext cx="4016959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99248" y="2761488"/>
            <a:ext cx="91440" cy="91440"/>
          </a:xfrm>
          <a:prstGeom prst="ellipse">
            <a:avLst/>
          </a:prstGeom>
          <a:solidFill>
            <a:srgbClr val="0B8892"/>
          </a:solidFill>
          <a:ln/>
        </p:spPr>
      </p:sp>
      <p:sp>
        <p:nvSpPr>
          <p:cNvPr id="23" name="Text 21"/>
          <p:cNvSpPr/>
          <p:nvPr/>
        </p:nvSpPr>
        <p:spPr>
          <a:xfrm>
            <a:off x="7900416" y="2642616"/>
            <a:ext cx="34683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Automatic delay warning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16368" y="3044952"/>
            <a:ext cx="4016959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99248" y="3163824"/>
            <a:ext cx="91440" cy="91440"/>
          </a:xfrm>
          <a:prstGeom prst="ellipse">
            <a:avLst/>
          </a:prstGeom>
          <a:solidFill>
            <a:srgbClr val="0B8892"/>
          </a:solidFill>
          <a:ln/>
        </p:spPr>
      </p:sp>
      <p:sp>
        <p:nvSpPr>
          <p:cNvPr id="26" name="Text 24"/>
          <p:cNvSpPr/>
          <p:nvPr/>
        </p:nvSpPr>
        <p:spPr>
          <a:xfrm>
            <a:off x="7900416" y="3044952"/>
            <a:ext cx="34683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Drawdown compliance check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16368" y="3447288"/>
            <a:ext cx="4016959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99248" y="3566160"/>
            <a:ext cx="91440" cy="91440"/>
          </a:xfrm>
          <a:prstGeom prst="ellipse">
            <a:avLst/>
          </a:prstGeom>
          <a:solidFill>
            <a:srgbClr val="0B8892"/>
          </a:solidFill>
          <a:ln/>
        </p:spPr>
      </p:sp>
      <p:sp>
        <p:nvSpPr>
          <p:cNvPr id="29" name="Text 27"/>
          <p:cNvSpPr/>
          <p:nvPr/>
        </p:nvSpPr>
        <p:spPr>
          <a:xfrm>
            <a:off x="7900416" y="3447288"/>
            <a:ext cx="34683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Contractor risk tracking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16368" y="3849624"/>
            <a:ext cx="4016959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99248" y="3968496"/>
            <a:ext cx="91440" cy="91440"/>
          </a:xfrm>
          <a:prstGeom prst="ellipse">
            <a:avLst/>
          </a:prstGeom>
          <a:solidFill>
            <a:srgbClr val="0B8892"/>
          </a:solidFill>
          <a:ln/>
        </p:spPr>
      </p:sp>
      <p:sp>
        <p:nvSpPr>
          <p:cNvPr id="32" name="Text 30"/>
          <p:cNvSpPr/>
          <p:nvPr/>
        </p:nvSpPr>
        <p:spPr>
          <a:xfrm>
            <a:off x="7900416" y="3849624"/>
            <a:ext cx="34683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Digital-twin view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16368" y="4251960"/>
            <a:ext cx="4016959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9248" y="4370832"/>
            <a:ext cx="91440" cy="91440"/>
          </a:xfrm>
          <a:prstGeom prst="ellipse">
            <a:avLst/>
          </a:prstGeom>
          <a:solidFill>
            <a:srgbClr val="0B8892"/>
          </a:solidFill>
          <a:ln/>
        </p:spPr>
      </p:sp>
      <p:sp>
        <p:nvSpPr>
          <p:cNvPr id="35" name="Text 33"/>
          <p:cNvSpPr/>
          <p:nvPr/>
        </p:nvSpPr>
        <p:spPr>
          <a:xfrm>
            <a:off x="7900416" y="4251960"/>
            <a:ext cx="34683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9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GIS portfolio map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4754880"/>
            <a:ext cx="10874959" cy="960120"/>
          </a:xfrm>
          <a:prstGeom prst="roundRect">
            <a:avLst>
              <a:gd name="adj" fmla="val 8571"/>
            </a:avLst>
          </a:prstGeom>
          <a:solidFill>
            <a:srgbClr val="8A6620">
              <a:alpha val="8000"/>
            </a:srgbClr>
          </a:solidFill>
          <a:ln w="12700">
            <a:solidFill>
              <a:srgbClr val="8A66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4919472"/>
            <a:ext cx="1014343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8A66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Stated limit.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Aerial capture cannot measure interior M&amp;E or fit-out. Those stages need milestone imagery, documents, fixed cameras and QS certification. We augment human judgement; we never replace it.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8368" y="64373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Prospek Cerah Inovasi IT × 云星宇 873806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185855" y="64373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C7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TECHNOLOGY IS BUILT BY A LISTED COMPANY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1417320"/>
            <a:ext cx="1219169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0" dirty="0">
                <a:solidFill>
                  <a:srgbClr val="3FD5E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873806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0" y="3154680"/>
            <a:ext cx="121916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北京云星宇交通科技股份有限公司  ·  Beijing Stock Exchange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354787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7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listed company’s capability claims carry legal consequence.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4160520"/>
            <a:ext cx="1970166" cy="1051560"/>
          </a:xfrm>
          <a:prstGeom prst="roundRect">
            <a:avLst>
              <a:gd name="adj" fmla="val 7826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297680"/>
            <a:ext cx="1970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4754880"/>
            <a:ext cx="1970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years in 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4566" y="4160520"/>
            <a:ext cx="1970166" cy="1051560"/>
          </a:xfrm>
          <a:prstGeom prst="roundRect">
            <a:avLst>
              <a:gd name="adj" fmla="val 7826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4566" y="4297680"/>
            <a:ext cx="1970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400+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84566" y="4754880"/>
            <a:ext cx="1970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 rights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10764" y="4160520"/>
            <a:ext cx="1970166" cy="1051560"/>
          </a:xfrm>
          <a:prstGeom prst="roundRect">
            <a:avLst>
              <a:gd name="adj" fmla="val 7826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0764" y="4297680"/>
            <a:ext cx="1970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RMB 3.0bn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10764" y="4754880"/>
            <a:ext cx="1970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contracts, 100+ projects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36963" y="4160520"/>
            <a:ext cx="1970166" cy="1051560"/>
          </a:xfrm>
          <a:prstGeom prst="roundRect">
            <a:avLst>
              <a:gd name="adj" fmla="val 7826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6963" y="4297680"/>
            <a:ext cx="1970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36963" y="4754880"/>
            <a:ext cx="1970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provinces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563161" y="4160520"/>
            <a:ext cx="1970166" cy="1051560"/>
          </a:xfrm>
          <a:prstGeom prst="roundRect">
            <a:avLst>
              <a:gd name="adj" fmla="val 7826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63161" y="4297680"/>
            <a:ext cx="19701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63161" y="4754880"/>
            <a:ext cx="19701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A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national awards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5623560"/>
            <a:ext cx="10874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C7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External case results from comparable markets are partner-provided and pending independent verification. They are shown for capability reference only — the pilot exists so AFFIN never has to rely on any of them.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0B889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THE FIRST NINETY DAYS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Ninety days, then you decide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25130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240280"/>
            <a:ext cx="384048" cy="384048"/>
          </a:xfrm>
          <a:prstGeom prst="ellipse">
            <a:avLst/>
          </a:prstGeom>
          <a:solidFill>
            <a:srgbClr val="0B8892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2743200"/>
            <a:ext cx="187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Week 0–2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8408" y="2999232"/>
            <a:ext cx="1872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Sign the baseline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3584448"/>
            <a:ext cx="187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Both sides agree in writing what today costs. Nothing can be argued later.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45688" y="2011680"/>
            <a:ext cx="25130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5728" y="2240280"/>
            <a:ext cx="384048" cy="384048"/>
          </a:xfrm>
          <a:prstGeom prst="ellipse">
            <a:avLst/>
          </a:prstGeom>
          <a:solidFill>
            <a:srgbClr val="0B8892"/>
          </a:solidFill>
          <a:ln/>
        </p:spPr>
      </p:sp>
      <p:sp>
        <p:nvSpPr>
          <p:cNvPr id="12" name="Text 10"/>
          <p:cNvSpPr/>
          <p:nvPr/>
        </p:nvSpPr>
        <p:spPr>
          <a:xfrm>
            <a:off x="3765728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65728" y="2743200"/>
            <a:ext cx="187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Week 3–6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65728" y="2999232"/>
            <a:ext cx="1872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Install and shadow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65728" y="3584448"/>
            <a:ext cx="187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Capture goes live. B1 runs beside your process and changes no decision yet.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3008" y="2011680"/>
            <a:ext cx="25130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3048" y="2240280"/>
            <a:ext cx="384048" cy="384048"/>
          </a:xfrm>
          <a:prstGeom prst="ellipse">
            <a:avLst/>
          </a:prstGeom>
          <a:solidFill>
            <a:srgbClr val="0B8892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48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53048" y="2743200"/>
            <a:ext cx="187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Week 7–11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53048" y="2999232"/>
            <a:ext cx="1872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Switch to exceptions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53048" y="3584448"/>
            <a:ext cx="187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People go only where the system flags. Every avoided visit is logged.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20327" y="2011680"/>
            <a:ext cx="25130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40367" y="2240280"/>
            <a:ext cx="384048" cy="384048"/>
          </a:xfrm>
          <a:prstGeom prst="ellipse">
            <a:avLst/>
          </a:prstGeom>
          <a:solidFill>
            <a:srgbClr val="0B8892"/>
          </a:solidFill>
          <a:ln/>
        </p:spPr>
      </p:sp>
      <p:sp>
        <p:nvSpPr>
          <p:cNvPr id="24" name="Text 22"/>
          <p:cNvSpPr/>
          <p:nvPr/>
        </p:nvSpPr>
        <p:spPr>
          <a:xfrm>
            <a:off x="9340367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40367" y="2743200"/>
            <a:ext cx="187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Week 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40367" y="2999232"/>
            <a:ext cx="1872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You measure. You decide.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40367" y="3584448"/>
            <a:ext cx="1872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AFFIN scores it against the signed baseline and calls Go or No-Go.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4709160"/>
            <a:ext cx="10874959" cy="914400"/>
          </a:xfrm>
          <a:prstGeom prst="roundRect">
            <a:avLst>
              <a:gd name="adj" fmla="val 9000"/>
            </a:avLst>
          </a:prstGeom>
          <a:solidFill>
            <a:srgbClr val="8A6620">
              <a:alpha val="10000"/>
            </a:srgbClr>
          </a:solidFill>
          <a:ln w="15875">
            <a:solidFill>
              <a:srgbClr val="8A66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4864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662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DAY 90 · GO / NO-GO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5148072"/>
            <a:ext cx="101434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Positive and above the hurdle → scale under gain-share. Below the hurdle → it stops, we absorb the shortfall, and you keep the baseline and evidence file you never had before.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64373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Prospek Cerah Inovasi IT × 云星宇 873806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85855" y="64373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22960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C7A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 ARE ASKING FOR TODAY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87495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Approve the diagnostic.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That is the whole ask.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2880360"/>
            <a:ext cx="5300320" cy="914400"/>
          </a:xfrm>
          <a:prstGeom prst="roundRect">
            <a:avLst>
              <a:gd name="adj" fmla="val 900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30449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C978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35608" y="3017520"/>
            <a:ext cx="420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Approve the diagnostic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35608" y="3310128"/>
            <a:ext cx="420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9B7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Anonymised bills plus a drawdown sample. Costs you nothing. Four to six weeks.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3008" y="2880360"/>
            <a:ext cx="5300320" cy="914400"/>
          </a:xfrm>
          <a:prstGeom prst="roundRect">
            <a:avLst>
              <a:gd name="adj" fmla="val 900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7328" y="30449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C978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10248" y="3017520"/>
            <a:ext cx="420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Half a day in one room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10248" y="3310128"/>
            <a:ext cx="420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9B7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Operations, Finance, Corporate Banking, Credit, Risk, Technology. Pick two A-modules and the B1 scope.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931920"/>
            <a:ext cx="5300320" cy="914400"/>
          </a:xfrm>
          <a:prstGeom prst="roundRect">
            <a:avLst>
              <a:gd name="adj" fmla="val 900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965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C978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35608" y="4069080"/>
            <a:ext cx="420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Name three owners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35608" y="4361688"/>
            <a:ext cx="420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9B7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executive sponsor, a B1 business owner, a risk owner. Without names, nothing moves.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3008" y="3931920"/>
            <a:ext cx="5300320" cy="914400"/>
          </a:xfrm>
          <a:prstGeom prst="roundRect">
            <a:avLst>
              <a:gd name="adj" fmla="val 9000"/>
            </a:avLst>
          </a:prstGeom>
          <a:solidFill>
            <a:srgbClr val="0D141D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7328" y="40965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C978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10248" y="4069080"/>
            <a:ext cx="420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Set the hurdle in writing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10248" y="4361688"/>
            <a:ext cx="420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9B7C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Agree the Benefit-to-Cost bar and the Day-90 method now, so the decision is arithmetic.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5257800"/>
            <a:ext cx="10874959" cy="0"/>
          </a:xfrm>
          <a:prstGeom prst="line">
            <a:avLst/>
          </a:prstGeom>
          <a:noFill/>
          <a:ln w="12700">
            <a:solidFill>
              <a:srgbClr val="2230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440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imes-Italic" pitchFamily="34" charset="0"/>
                <a:ea typeface="Times-Italic" pitchFamily="34" charset="-122"/>
                <a:cs typeface="Times-Italic" pitchFamily="34" charset="-120"/>
              </a:rPr>
              <a:t>The only thing AFFIN risks by starting is finding out how much it has been overpaying.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0B889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APPENDIX · EVIDENCE DISCIPLINE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495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What is proven, and what is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10874959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14884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2E8757">
              <a:alpha val="18000"/>
            </a:srgbClr>
          </a:solidFill>
          <a:ln w="12700">
            <a:solidFill>
              <a:srgbClr val="2E8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14884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8757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09928" y="2020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Verified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09928" y="2295144"/>
            <a:ext cx="941191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Yunxingyu listed-company disclosure: 28 years, 400+ IP, RMB 3.0bn contracts, 30 provinces.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2898648"/>
            <a:ext cx="10874959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317296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A9701B">
              <a:alpha val="18000"/>
            </a:srgbClr>
          </a:solidFill>
          <a:ln w="12700">
            <a:solidFill>
              <a:srgbClr val="A970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17296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701B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09928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Partner-provided, pending verification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09928" y="3319272"/>
            <a:ext cx="941191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Comparable-market results (post-loan check efficiency ×3, inspection labour −70%, warning T+7→T+1, property-loan NPL formation −22% YoY). Named clients, not independently audited.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922776"/>
            <a:ext cx="10874959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4197096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0B8892">
              <a:alpha val="18000"/>
            </a:srgbClr>
          </a:solidFill>
          <a:ln w="12700">
            <a:solidFill>
              <a:srgbClr val="0B88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4197096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889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09928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Capability reference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09928" y="4343400"/>
            <a:ext cx="941191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Municipal and infrastructure digital-twin delivery, including Malaysia. Proves delivery capability, not a banking ROI claim.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4946904"/>
            <a:ext cx="10874959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DB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" y="5221224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78838D">
              <a:alpha val="18000"/>
            </a:srgbClr>
          </a:solidFill>
          <a:ln w="12700">
            <a:solidFill>
              <a:srgbClr val="7883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5221224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838D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09928" y="5093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22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Reference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09928" y="5367528"/>
            <a:ext cx="941191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854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A1–A8 reduction bands and the RMB 57.4m–84.7m programme total. Sized for the partner’s benchmark bank estate — not AFFIN’s. AFFIN’s figure is computed from AFFIN’s own bills in the Diagnostic.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6144768"/>
            <a:ext cx="108749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result is presented as achieved until measured and confirmed by AFFIN. Commercial terms are indicative and subject to written agreement.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64373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Prospek Cerah Inovasi IT × 云星宇 873806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85855" y="64373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838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AFFIN — You are already paying for this</dc:title>
  <dc:subject>PptxGenJS Presentation</dc:subject>
  <dc:creator>Prospek Cerah Inovasi IT Sdn. Bhd.</dc:creator>
  <cp:lastModifiedBy>Prospek Cerah Inovasi IT Sdn. Bhd.</cp:lastModifiedBy>
  <cp:revision>1</cp:revision>
  <dcterms:created xsi:type="dcterms:W3CDTF">2026-07-25T17:20:15Z</dcterms:created>
  <dcterms:modified xsi:type="dcterms:W3CDTF">2026-07-25T17:20:15Z</dcterms:modified>
</cp:coreProperties>
</file>