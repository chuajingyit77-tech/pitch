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hero_b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>
              <a:alpha val="6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80360"/>
            <a:ext cx="12191695" cy="3977640"/>
          </a:xfrm>
          <a:prstGeom prst="rect">
            <a:avLst/>
          </a:prstGeom>
          <a:solidFill>
            <a:srgbClr val="0A0F1A">
              <a:alpha val="9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C0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PROGRAMME PROPOSAL  ·  JULY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programme that removes cost —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that adds a system.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cost-reduction and credit-loss-prevention programme for AFFIN Bank, sized entirely against AFFIN’s own baseline 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5778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16233A">
              <a:alpha val="82000"/>
            </a:srgbClr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cost removed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898648" y="5577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28416" y="55778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16233A">
              <a:alpha val="82000"/>
            </a:srgbClr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8416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Avoidable credit loss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86984" y="5577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16752" y="55778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16233A">
              <a:alpha val="82000"/>
            </a:srgbClr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16752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implementation cost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75320" y="5577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C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705088" y="55778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B98A38">
              <a:alpha val="30000"/>
            </a:srgbClr>
          </a:solidFill>
          <a:ln w="12700">
            <a:solidFill>
              <a:srgbClr val="D9AE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05088" y="5577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A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benefit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for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 Bank Berhad</a:t>
            </a:r>
            <a:pPr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Prepared by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Prospek Cerah Inovasi IT Sdn. Bhd.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EXECUTIVE MESSAGE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 from your bills — not from our technology.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8521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4864" cy="3383280"/>
          </a:xfrm>
          <a:prstGeom prst="rect">
            <a:avLst/>
          </a:prstGeom>
          <a:solidFill>
            <a:srgbClr val="B98A3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860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the bank keeps every existing task and simply adds our platform on top, of course it becomes a new cost. So we have changed the proposal completely. This version does not start from technology — it starts from AFFIN’s current bills and workflows.”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20840" y="1874520"/>
            <a:ext cx="483077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0" y="2258568"/>
            <a:ext cx="502920" cy="502920"/>
          </a:xfrm>
          <a:prstGeom prst="ellipse">
            <a:avLst/>
          </a:prstGeom>
          <a:solidFill>
            <a:srgbClr val="159AA8">
              <a:alpha val="18000"/>
            </a:srgbClr>
          </a:solidFill>
          <a:ln w="19050">
            <a:solidFill>
              <a:srgbClr val="159A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6620" y="2377440"/>
            <a:ext cx="91440" cy="274320"/>
          </a:xfrm>
          <a:prstGeom prst="rect">
            <a:avLst/>
          </a:prstGeom>
          <a:solidFill>
            <a:srgbClr val="159AA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093976"/>
            <a:ext cx="3550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Remove, don’t add.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0" y="2496312"/>
            <a:ext cx="3550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full manual checking into exception-driven checking.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3337560"/>
            <a:ext cx="483077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3721608"/>
            <a:ext cx="502920" cy="502920"/>
          </a:xfrm>
          <a:prstGeom prst="ellipse">
            <a:avLst/>
          </a:prstGeom>
          <a:solidFill>
            <a:srgbClr val="B98A38">
              <a:alpha val="18000"/>
            </a:srgbClr>
          </a:solidFill>
          <a:ln w="19050">
            <a:solidFill>
              <a:srgbClr val="B98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6620" y="3840480"/>
            <a:ext cx="91440" cy="274320"/>
          </a:xfrm>
          <a:prstGeom prst="rect">
            <a:avLst/>
          </a:prstGeom>
          <a:solidFill>
            <a:srgbClr val="B98A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557016"/>
            <a:ext cx="3550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before scale.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0" y="3959352"/>
            <a:ext cx="3550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Go/No-Go gate sits before any wide deployment.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4800600"/>
            <a:ext cx="483077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5184648"/>
            <a:ext cx="502920" cy="502920"/>
          </a:xfrm>
          <a:prstGeom prst="ellipse">
            <a:avLst/>
          </a:prstGeom>
          <a:solidFill>
            <a:srgbClr val="3FA06B">
              <a:alpha val="18000"/>
            </a:srgbClr>
          </a:solidFill>
          <a:ln w="19050">
            <a:solidFill>
              <a:srgbClr val="3FA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6620" y="5303520"/>
            <a:ext cx="91440" cy="274320"/>
          </a:xfrm>
          <a:prstGeom prst="rect">
            <a:avLst/>
          </a:prstGeom>
          <a:solidFill>
            <a:srgbClr val="3FA06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5020056"/>
            <a:ext cx="3550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owns the maths.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0" y="5422392"/>
            <a:ext cx="3550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and thresholds are AFFIN’s; we supply the instrument.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WHERE THE MONEY ACTUALLY LEAKS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pathways — proven separately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7150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2834640" cy="310896"/>
          </a:xfrm>
          <a:prstGeom prst="roundRect">
            <a:avLst>
              <a:gd name="adj" fmla="val 17647"/>
            </a:avLst>
          </a:prstGeom>
          <a:solidFill>
            <a:srgbClr val="B98A38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8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A · OPERATING 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savings you can bank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024128" y="3447288"/>
            <a:ext cx="146304" cy="27432"/>
          </a:xfrm>
          <a:prstGeom prst="rect">
            <a:avLst/>
          </a:prstGeom>
          <a:solidFill>
            <a:srgbClr val="B98A38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32918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repairs that should have been planned maintenance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24128" y="4160520"/>
            <a:ext cx="146304" cy="27432"/>
          </a:xfrm>
          <a:prstGeom prst="rect">
            <a:avLst/>
          </a:prstGeom>
          <a:solidFill>
            <a:srgbClr val="B98A38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4005072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downtime, redundant replenishment routes, low-use sites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24128" y="4873752"/>
            <a:ext cx="146304" cy="27432"/>
          </a:xfrm>
          <a:prstGeom prst="rect">
            <a:avLst/>
          </a:prstGeom>
          <a:solidFill>
            <a:srgbClr val="B98A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4718304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over-run, night load, inefficient branch equipment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24128" y="5586984"/>
            <a:ext cx="146304" cy="27432"/>
          </a:xfrm>
          <a:prstGeom prst="rect">
            <a:avLst/>
          </a:prstGeom>
          <a:solidFill>
            <a:srgbClr val="B98A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98448" y="543153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vendors, price variance, auto-renewals, double billing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57150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2103120"/>
            <a:ext cx="2834640" cy="310896"/>
          </a:xfrm>
          <a:prstGeom prst="roundRect">
            <a:avLst>
              <a:gd name="adj" fmla="val 17647"/>
            </a:avLst>
          </a:prstGeom>
          <a:solidFill>
            <a:srgbClr val="159AA8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10312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B · CREDIT LOSS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6060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caught earlier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150608" y="3447288"/>
            <a:ext cx="146304" cy="27432"/>
          </a:xfrm>
          <a:prstGeom prst="rect">
            <a:avLst/>
          </a:prstGeom>
          <a:solidFill>
            <a:srgbClr val="159AA8"/>
          </a:solidFill>
          <a:ln/>
        </p:spPr>
      </p:sp>
      <p:sp>
        <p:nvSpPr>
          <p:cNvPr id="21" name="Text 19"/>
          <p:cNvSpPr/>
          <p:nvPr/>
        </p:nvSpPr>
        <p:spPr>
          <a:xfrm>
            <a:off x="7424928" y="32918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Drawdowns released ahead of real physical progress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50608" y="4160520"/>
            <a:ext cx="146304" cy="27432"/>
          </a:xfrm>
          <a:prstGeom prst="rect">
            <a:avLst/>
          </a:prstGeom>
          <a:solidFill>
            <a:srgbClr val="159AA8"/>
          </a:solidFill>
          <a:ln/>
        </p:spPr>
      </p:sp>
      <p:sp>
        <p:nvSpPr>
          <p:cNvPr id="23" name="Text 21"/>
          <p:cNvSpPr/>
          <p:nvPr/>
        </p:nvSpPr>
        <p:spPr>
          <a:xfrm>
            <a:off x="7424928" y="4005072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projects detected months late, after value bleeds away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50608" y="4873752"/>
            <a:ext cx="146304" cy="27432"/>
          </a:xfrm>
          <a:prstGeom prst="rect">
            <a:avLst/>
          </a:prstGeom>
          <a:solidFill>
            <a:srgbClr val="159AA8"/>
          </a:solidFill>
          <a:ln/>
        </p:spPr>
      </p:sp>
      <p:sp>
        <p:nvSpPr>
          <p:cNvPr id="25" name="Text 23"/>
          <p:cNvSpPr/>
          <p:nvPr/>
        </p:nvSpPr>
        <p:spPr>
          <a:xfrm>
            <a:off x="7424928" y="4718304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diversion and progress–payment mismatch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50608" y="5586984"/>
            <a:ext cx="146304" cy="27432"/>
          </a:xfrm>
          <a:prstGeom prst="rect">
            <a:avLst/>
          </a:prstGeom>
          <a:solidFill>
            <a:srgbClr val="159AA8"/>
          </a:solidFill>
          <a:ln/>
        </p:spPr>
      </p:sp>
      <p:sp>
        <p:nvSpPr>
          <p:cNvPr id="27" name="Text 25"/>
          <p:cNvSpPr/>
          <p:nvPr/>
        </p:nvSpPr>
        <p:spPr>
          <a:xfrm>
            <a:off x="7424928" y="543153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erosion tracked quarterly, not continuously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WHY AFFIN,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verifiable facts only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drawn from AFFIN Group’s own public profile — no assumptions.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22144" cy="274320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B98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network nationwide — scale for controlled A-track pilots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36544" y="2057400"/>
            <a:ext cx="2522144" cy="274320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10864" y="233172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B98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710864" y="352044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lines: Community, Enterprise, Corporate, Treasury &amp; IB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10864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2057400"/>
            <a:ext cx="2522144" cy="274320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7328" y="233172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Affin</a:t>
            </a:r>
            <a:endParaRPr lang="en-US" sz="2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Islamic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07328" y="352044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Conventional + Islamic dual-track workflow with Shariah risk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7328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29471" y="2057400"/>
            <a:ext cx="2522144" cy="274320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03791" y="233172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 &amp;</a:t>
            </a:r>
            <a:endParaRPr lang="en-US" sz="2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03791" y="3520440"/>
            <a:ext cx="197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B1 entry: developer, contractor, factory &amp; project finance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03791" y="4434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Mid-sized with a national footprint: large enough for real ROI, but with a shorter decision chain and pilots that won’t become as complex as a mega-bank’s. That is precisely why AFFIN is the right first partner.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TRACK A — FROM FULL MANUAL TO EXCEPTION-DRIVEN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inspecting everything. Inspect only the exceptions.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EEF0EC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· every asset · fixed calendar → full manual inspection → report → react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2057400"/>
            <a:ext cx="685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675120" y="1783080"/>
            <a:ext cx="4876495" cy="1371600"/>
          </a:xfrm>
          <a:prstGeom prst="roundRect">
            <a:avLst>
              <a:gd name="adj" fmla="val 6000"/>
            </a:avLst>
          </a:prstGeom>
          <a:solidFill>
            <a:srgbClr val="159AA8">
              <a:alpha val="10000"/>
            </a:srgbClr>
          </a:solidFill>
          <a:ln w="19050">
            <a:solidFill>
              <a:srgbClr val="159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PROCESS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95160" y="2331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→ system flags the anomaly → people sent only to exceptions → intervene early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2522144" cy="265176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03320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A7 · ATM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Network Cost Intelligence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19735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failures, optimise replenishment mileage, merge low-value sites. Easiest hard saving.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36544" y="3474720"/>
            <a:ext cx="2522144" cy="265176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0864" y="3703320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· Maintenance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0864" y="402336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10864" y="4709160"/>
            <a:ext cx="19735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emergency call-outs and premature replacement into scheduled, cheaper planned 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474720"/>
            <a:ext cx="2522144" cy="265176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7328" y="3703320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· Energy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07328" y="402336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Optimisation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07328" y="4709160"/>
            <a:ext cx="19735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time-of-use control and equipment efficiency. 3–6 months to verify.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29471" y="3474720"/>
            <a:ext cx="2522144" cy="2651760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03791" y="3703320"/>
            <a:ext cx="197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 · Procurement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03791" y="4023360"/>
            <a:ext cx="19735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Vendor Analysis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709160"/>
            <a:ext cx="19735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consolidation, re-negotiation, duplicate-invoice and price-variance detection.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C0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THE NET-BENEFIT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pre-written. The bank owns every input.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 enters its own baseline figures; the model returns Low / Base / High scenarios. A framework, not a promise.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9050">
            <a:solidFill>
              <a:srgbClr val="2A3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cost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214884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D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905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1488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loss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214884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D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9050">
            <a:solidFill>
              <a:srgbClr val="2A3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2148840"/>
            <a:ext cx="411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FC0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006840" y="21488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B98A38">
              <a:alpha val="40000"/>
            </a:srgbClr>
          </a:solidFill>
          <a:ln w="19050">
            <a:solidFill>
              <a:srgbClr val="D9A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1488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D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REDUCTION BANDS  ·  ADJUSTED WITH AFFIN DATA IN THE DISCOVERY WORKSHOP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8138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repair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BAC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A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BAC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A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BAC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A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/ procurement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BAC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C0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AE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9006840" y="406908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3FA06B">
              <a:alpha val="12000"/>
            </a:srgbClr>
          </a:solidFill>
          <a:ln w="19050">
            <a:solidFill>
              <a:srgbClr val="3FA06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4343400"/>
            <a:ext cx="256032" cy="256032"/>
          </a:xfrm>
          <a:prstGeom prst="ellipse">
            <a:avLst/>
          </a:prstGeom>
          <a:solidFill>
            <a:srgbClr val="3FA06B"/>
          </a:solidFill>
          <a:ln/>
        </p:spPr>
      </p:sp>
      <p:sp>
        <p:nvSpPr>
          <p:cNvPr id="20" name="Text 17"/>
          <p:cNvSpPr/>
          <p:nvPr/>
        </p:nvSpPr>
        <p:spPr>
          <a:xfrm>
            <a:off x="964692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A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/ NO-GO GATE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281160" y="47091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roll-out until bank-confirmed net benefit is positive AND the Benefit-to-Cost Ratio clears a jointly-agreed hurdle.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B1 — CONSTRUCTION FINANCE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evidence — without removing your team’s authority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214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159A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151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Pre-lending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973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land parcel, approved drawings, project baseline, contractor &amp; developer risk profile.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6544" y="1920240"/>
            <a:ext cx="252214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10864" y="2194560"/>
            <a:ext cx="457200" cy="457200"/>
          </a:xfrm>
          <a:prstGeom prst="ellipse">
            <a:avLst/>
          </a:prstGeom>
          <a:solidFill>
            <a:srgbClr val="159AA8"/>
          </a:solidFill>
          <a:ln/>
        </p:spPr>
      </p:sp>
      <p:sp>
        <p:nvSpPr>
          <p:cNvPr id="11" name="Text 9"/>
          <p:cNvSpPr/>
          <p:nvPr/>
        </p:nvSpPr>
        <p:spPr>
          <a:xfrm>
            <a:off x="371086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05224" y="2240280"/>
            <a:ext cx="151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10864" y="2880360"/>
            <a:ext cx="1973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/ drone / camera / IoT capture by stage; compare to plan, QS quantities &amp; drawdown schedule.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1920240"/>
            <a:ext cx="252214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7328" y="2194560"/>
            <a:ext cx="457200" cy="457200"/>
          </a:xfrm>
          <a:prstGeom prst="ellipse">
            <a:avLst/>
          </a:prstGeom>
          <a:solidFill>
            <a:srgbClr val="159A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0732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01688" y="2240280"/>
            <a:ext cx="151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7328" y="2880360"/>
            <a:ext cx="1973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prolonged inactivity, works behind schedule, drawdown outrunning progress, rising contractor risk.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9471" y="1920240"/>
            <a:ext cx="2522144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3791" y="2194560"/>
            <a:ext cx="457200" cy="457200"/>
          </a:xfrm>
          <a:prstGeom prst="ellipse">
            <a:avLst/>
          </a:prstGeom>
          <a:solidFill>
            <a:srgbClr val="159AA8"/>
          </a:solidFill>
          <a:ln/>
        </p:spPr>
      </p:sp>
      <p:sp>
        <p:nvSpPr>
          <p:cNvPr id="21" name="Text 19"/>
          <p:cNvSpPr/>
          <p:nvPr/>
        </p:nvSpPr>
        <p:spPr>
          <a:xfrm>
            <a:off x="9303791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98151" y="2240280"/>
            <a:ext cx="151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3791" y="2880360"/>
            <a:ext cx="19735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time-stamped evidence file for restructuring, recovery, valuation and disposal.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10911535" cy="1280160"/>
          </a:xfrm>
          <a:prstGeom prst="roundRect">
            <a:avLst>
              <a:gd name="adj" fmla="val 6429"/>
            </a:avLst>
          </a:prstGeom>
          <a:solidFill>
            <a:srgbClr val="B98A38">
              <a:alpha val="10000"/>
            </a:srgbClr>
          </a:solidFill>
          <a:ln w="15875">
            <a:solidFill>
              <a:srgbClr val="B98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983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98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⟡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645920" y="4892040"/>
            <a:ext cx="953993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of the tool.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capture cannot authoritatively measure interior M&amp;E or fit-out — those stages combine milestone imagery, documents, fixed cameras and QS certification. We augment human judgement; we never replace it.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B1 — DRAWDOWN vs PHYSICAL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assurance check, in one 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pic>
        <p:nvPicPr>
          <p:cNvPr id="5" name="Image 0" descr="assets/img/digital_tw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993392"/>
            <a:ext cx="552297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Project-level digital twin — colour-coded construction-progress status across a development.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20840" y="1828800"/>
            <a:ext cx="4830775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2148840"/>
            <a:ext cx="4099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552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DRAWDOWN vs PHYSICAL PROGRESS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8660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progress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869680" y="2834640"/>
            <a:ext cx="2286000" cy="237744"/>
          </a:xfrm>
          <a:prstGeom prst="roundRect">
            <a:avLst>
              <a:gd name="adj" fmla="val 19231"/>
            </a:avLst>
          </a:prstGeom>
          <a:solidFill>
            <a:srgbClr val="E4E7E0"/>
          </a:solidFill>
          <a:ln/>
        </p:spPr>
      </p:sp>
      <p:sp>
        <p:nvSpPr>
          <p:cNvPr id="11" name="Shape 8"/>
          <p:cNvSpPr/>
          <p:nvPr/>
        </p:nvSpPr>
        <p:spPr>
          <a:xfrm>
            <a:off x="8869680" y="283464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3FA06B"/>
          </a:solidFill>
          <a:ln/>
        </p:spPr>
      </p:sp>
      <p:sp>
        <p:nvSpPr>
          <p:cNvPr id="12" name="Text 9"/>
          <p:cNvSpPr/>
          <p:nvPr/>
        </p:nvSpPr>
        <p:spPr>
          <a:xfrm>
            <a:off x="11247120" y="28163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86600" y="3410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drawdown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69680" y="3429000"/>
            <a:ext cx="2286000" cy="237744"/>
          </a:xfrm>
          <a:prstGeom prst="roundRect">
            <a:avLst>
              <a:gd name="adj" fmla="val 19231"/>
            </a:avLst>
          </a:prstGeom>
          <a:solidFill>
            <a:srgbClr val="E4E7E0"/>
          </a:solidFill>
          <a:ln/>
        </p:spPr>
      </p:sp>
      <p:sp>
        <p:nvSpPr>
          <p:cNvPr id="15" name="Shape 12"/>
          <p:cNvSpPr/>
          <p:nvPr/>
        </p:nvSpPr>
        <p:spPr>
          <a:xfrm>
            <a:off x="8869680" y="3429000"/>
            <a:ext cx="1851660" cy="237744"/>
          </a:xfrm>
          <a:prstGeom prst="roundRect">
            <a:avLst>
              <a:gd name="adj" fmla="val 19231"/>
            </a:avLst>
          </a:prstGeom>
          <a:solidFill>
            <a:srgbClr val="D9503C"/>
          </a:solidFill>
          <a:ln/>
        </p:spPr>
      </p:sp>
      <p:sp>
        <p:nvSpPr>
          <p:cNvPr id="16" name="Text 13"/>
          <p:cNvSpPr/>
          <p:nvPr/>
        </p:nvSpPr>
        <p:spPr>
          <a:xfrm>
            <a:off x="11247120" y="3410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977640"/>
            <a:ext cx="4099255" cy="0"/>
          </a:xfrm>
          <a:prstGeom prst="line">
            <a:avLst/>
          </a:prstGeom>
          <a:noFill/>
          <a:ln w="12700">
            <a:solidFill>
              <a:srgbClr val="DDE1DA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7086600" y="416052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D98A20">
              <a:alpha val="1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086600" y="41605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98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21040" y="41605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19-point gap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86600" y="4663440"/>
            <a:ext cx="40992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is ahead of physical works. The system holds release pending an exception site visit — no committee authority is bypassed.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EVIDENCE — GRADED HONESTLY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reference, not board-grade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quantified result below is Partner-Provided and Pending Independent Verification (Level 2). Shown for capability.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36576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benefit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Bank of China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Space-air-ground 3D digital-twin loan risk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−70% on-site inspection labour · risk 3–6 mo earlier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8A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ICBC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Fixed-asset holographic digital-twin risk 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quantification +55% · warning T+7 → T+1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8A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of Communications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digital-twin post-loan verification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−65% offline verification · overdue detection +60%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8A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Bank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digital-twin under-construction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Property-loan NPL formation −22% YoY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8A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Merchants Bank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remote-sensing progress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Post-loan check efficiency ×3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8A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SPD Bank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BIM digital-twin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Inflated-works fraud largely eliminated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8A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 infra / 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Digital-twin &amp; GIS for municipal (non-bank)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delivery capability — not a bank ROI claim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9A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  </a:t>
            </a:r>
            <a:pPr indent="0" marL="0">
              <a:buNone/>
            </a:pPr>
            <a:r>
              <a:rPr lang="en-US" sz="1200" b="1" dirty="0">
                <a:solidFill>
                  <a:srgbClr val="D98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</a:t>
            </a:r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Partner-provided   </a:t>
            </a:r>
            <a:pPr indent="0" marL="0">
              <a:buNone/>
            </a:pPr>
            <a:r>
              <a:rPr lang="en-US" sz="1200" b="1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</a:t>
            </a:r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reference   </a:t>
            </a:r>
            <a:pPr indent="0" marL="0">
              <a:buNone/>
            </a:pPr>
            <a:r>
              <a:rPr lang="en-US" sz="1200" b="1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 </a:t>
            </a:r>
            <a:pPr indent="0" marL="0">
              <a:buNone/>
            </a:pPr>
            <a:r>
              <a:rPr lang="en-US" sz="12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TWO PILOTS — NOT THE WHOLE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measurable, reversible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B98A38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8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A · OPERATING COST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 branches + 1 ATM cluster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only 2 of ATM / maintenance / energy / procurement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77647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Emergency-repair reduction vs baseline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32511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uptime &amp; replenishment-route saving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87375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Weather-adjusted energy saving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5440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42239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vendor saving &amp; net benefit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57150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103120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159AA8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1031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B1 · CONSTRUCTION FINANCE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6060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projects · Shadow Mode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315468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high-rise, one industrial/factory, one non-BIM project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0608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377647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inspection cost captured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50608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432511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lead-time vs current detection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487375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Drawdown-vs-progress variance found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50608" y="5440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542239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Net-cost model &amp; Go/No-Go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59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COMMERCIAL GATE · DATA · SECURITY · EXIT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1284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gate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58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large-scale roll-out until AFFIN confirms net benefit is positive and the Benefit-to-Cost Ratio clears a jointly-agreed hurdle.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8768" y="221284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98768" y="2788920"/>
            <a:ext cx="458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Malaysia-hosted with no remote access — a commitment to be validated with Group Technology, not a marketing claim.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3186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45312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alignment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5029200"/>
            <a:ext cx="458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toward BNM RMiT alignment and Shariah representation for Affin Islamic; confirmed with Risk, Compliance &amp; Legal.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4160520"/>
            <a:ext cx="53186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1DA"/>
            </a:solidFill>
            <a:prstDash val="solid"/>
          </a:ln>
          <a:effectLst>
            <a:outerShdw sx="100000" sy="100000" kx="0" ky="0" algn="bl" rotWithShape="0" blurRad="114300" dist="38100" dir="5400000">
              <a:srgbClr val="B9BFB4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98768" y="445312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9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98768" y="5029200"/>
            <a:ext cx="4587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 and reversible. If a pilot fails its Go/No-Go, it stops — no lock-in, no scaled cost.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C0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THE EXACT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workshop. Named owners. Baseline data. Two pilot dates.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2093976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 a Cost &amp; Risk Discovery Workshop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441448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Finance, Corporate Banking, Credit, Risk &amp; Technology select one A-track and one B1 pilot together.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90088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83080" y="3118104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owners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465576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(Group CEO / COO), B1 business owner (Corporate / Enterprise / Credit), risk owner (Group CRO / Recovery).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14216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4142232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anonymised baseline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489704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counts, ATM &amp; energy bills, vendor contracts, drawdown &amp; holding-cost data — the model’s inputs.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6233A"/>
          </a:solidFill>
          <a:ln w="12700">
            <a:solidFill>
              <a:srgbClr val="2A3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38344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83080" y="5166360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two pilot dates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5513832"/>
            <a:ext cx="9539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10–15 branch A-pilot and a 3–5 project B1 Shadow-Mode pilot, each with a Day-90 deliverable.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hero_b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remove existing cost.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add a system.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Cost &amp; Risk Discovery Workshop.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40080" y="5394960"/>
            <a:ext cx="10911535" cy="18288"/>
          </a:xfrm>
          <a:prstGeom prst="rect">
            <a:avLst/>
          </a:prstGeom>
          <a:solidFill>
            <a:srgbClr val="2A3B5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532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China-market case results are Partner-Provided and Pending Independent Verification, shown for capability reference only. Public AFFIN facts are drawn from AFFIN Group’s public profile. All value figures are generated from AFFIN’s own baseline inputs — no result is presented as achieved until verified.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Prospek Cerah Inovasi IT Sdn. Bhd.  ·  Confidential — for AFFIN Bank internal evaluation  · 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AFFIN Bank — Cost Reduction &amp; Credit Loss Prevention Programme</dc:title>
  <dc:subject>PptxGenJS Presentation</dc:subject>
  <dc:creator>Prospek Cerah Inovasi IT Sdn. Bhd.</dc:creator>
  <cp:lastModifiedBy>Prospek Cerah Inovasi IT Sdn. Bhd.</cp:lastModifiedBy>
  <cp:revision>1</cp:revision>
  <dcterms:created xsi:type="dcterms:W3CDTF">2026-07-24T18:30:08Z</dcterms:created>
  <dcterms:modified xsi:type="dcterms:W3CDTF">2026-07-24T18:30:08Z</dcterms:modified>
</cp:coreProperties>
</file>